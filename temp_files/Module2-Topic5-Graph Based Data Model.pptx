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9"/>
  </p:normalViewPr>
  <p:slideViewPr>
    <p:cSldViewPr>
      <p:cViewPr varScale="1">
        <p:scale>
          <a:sx n="152" d="100"/>
          <a:sy n="152" d="100"/>
        </p:scale>
        <p:origin x="952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2-08T08:47:21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12153 13070 0,'0'18'109,"18"-18"-93,70 0-16,18 0 15,776 0 17,441 0 30,-1182 0-62,212 0 31,-230 0-15,36 0 0,17 0-1,-17 0 1,35 0-1,53 0 1,106 0 0,-142 0-16,160 53 15,-124-53 1,-124 0 0,-105 0 234,-1 0-250,1 0 15</inkml:trace>
  <inkml:trace contextRef="#ctx0" brushRef="#br0" timeOffset="1320.37">17621 13070 0,'-17'0'250,"-1"18"-250,18 0 16,-35 17-16,-1 0 15,19-17-15,-36 0 16,18 17-16,17-18 16,-35 36-16,-18-17 15,36-19-15,-71 54 16,-529 229 15,-317 35 32,581-229-48,36-36 1,0 36 0,229-88-16,-141 105 31,106-70-16,-17-18 1,69 18 0,1-53-16,-53 36 15,53-19 1,-53 18 0,0-35-1,17 18 1,-70 0 15,35-18-15,1 0-1,69 0 1,-16 35 0,69-35-1,-17 18 16,36-18-15,-19 0 0</inkml:trace>
  <inkml:trace contextRef="#ctx0" brushRef="#br0" timeOffset="14407.9">1676 11924 0,'17'0'156,"1"0"-140,35 0-16,0 0 15,53 0-15,-1-35 16,19 17-16,17 0 15,-17 18-15,-19 0 16,72 0-16,-36 0 16,370 0 15,283-53 16,-494 53-32,-18 0 1,0 0 0,-158 0-1,229 0 17,-71 0-17,106 0 1,35 0-1,54 0 1,-160 0 0,-35 0-1,-105 0-15,175 0 16,-34 0 0,88 0-1,-89 0 1,-123 0-1,-88 0 1,-18 18 0,-35-18 15,0 35 0,0 18-15,35 35-1,-70-70-15,88 70 16,-36-35 0,1 35-1,-1 1 1,-52-54 0,0 0-1,-1 0 1,18 36-1,-17-18 1,0 0 0,-1 0 15,-17 0-31,36 141 31,-36-88-15,0-18-1,0 35 1,0-17 0,0 35-1,0-35 1,0-18 0,0 53-1,0-53 1,-18 106-1,18-88 1,-18 141 0,-52-123 15,70-36-15,0 0-1,0 18 16,-18-53-15,18-18 0,0 18-1,-17-18 1,-1-35 0,0 18-1,1 0-15,-36 35 16,-18-1-1,-70 19 1,-35-18 0,-89 17 15,-88-17-15,-123 36-1,70-36 1,159-1-16,-299 37 31,158-89-15,35 0-1,-176 0 1,123 0 0,18 0-1,70 0 1,-105 0-1,-36 0 1,-17-71 0,88 18 15,53-17-15,35 34-1,159 19 1,-71-54-1,177 71 1,-53-70 15,35 52-15,-18-53 0,-52-34-1,35 16 1,0-34-1,-1 17 1,1 18 0,71 17-1,-19 1 17,1-36-17,35 18 1,-18 0-1,18-54 1,0 72-16,0-159 31,0 52-15,0-70 0,0 88-1,0-35 1,18 53-1,17-17 1,18-54 0,-18 124-1,-17 35 17,0-18-17,-1 54 1,1-19-1,-18 19 1,0-36 0,0 35-16,35-17 31,-35 0-15,0-1-1,36-17 1,-36 36-1,17-19 1,-17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2-08T08:51:17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23230 16669 0,'106'-18'141,"141"-52"-125,106 52-16,88-17 15,88-1-15,36 36 16,387 0 0,1 0 15,-883 0 0,442-35 16,-124 35-31,-53 0-1,-194 0 1,71 0-1,-54 0 1,-69 0 0,-37 0-1,1 0 1,0 0 0,-17 0-1,-19 0 1,19 0 15</inkml:trace>
  <inkml:trace contextRef="#ctx0" brushRef="#br0" timeOffset="3544.05">20743 13053 0,'0'0'0,"194"0"0,-53 0 15,106 0-15,-35 0 16,211 0 0,-87 0 15,-284 0 16,1 0-32,71 0 1,105 35 0,0 36-1,-105-54 1,-53-17 15,-54 0-15</inkml:trace>
  <inkml:trace contextRef="#ctx0" brushRef="#br0" timeOffset="4910.8">6632 14852 0,'124'0'125,"17"-18"-110,70 1-15,-17-19 16,18-17-16,-71 53 16,212-17 30,-335-1 1,17 18-31,71 0 0,123 35-1,-35-17 1,-35-18-1,-124 0 1,-17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D161D-AAF8-4A68-88AB-0660D878D5AD}" type="datetimeFigureOut">
              <a:rPr lang="en-US" smtClean="0"/>
              <a:t>1/24/24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4A860-6635-491E-BE7E-F24B0F72F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04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16</a:t>
            </a:r>
            <a:r>
              <a:rPr dirty="0"/>
              <a:t>-</a:t>
            </a:r>
            <a:r>
              <a:rPr spc="-5" dirty="0"/>
              <a:t>Feb</a:t>
            </a:r>
            <a:r>
              <a:rPr dirty="0"/>
              <a:t>-</a:t>
            </a:r>
            <a:r>
              <a:rPr spc="-10" dirty="0"/>
              <a:t>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16</a:t>
            </a:r>
            <a:r>
              <a:rPr dirty="0"/>
              <a:t>-</a:t>
            </a:r>
            <a:r>
              <a:rPr spc="-5" dirty="0"/>
              <a:t>Feb</a:t>
            </a:r>
            <a:r>
              <a:rPr dirty="0"/>
              <a:t>-</a:t>
            </a:r>
            <a:r>
              <a:rPr spc="-10" dirty="0"/>
              <a:t>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16</a:t>
            </a:r>
            <a:r>
              <a:rPr dirty="0"/>
              <a:t>-</a:t>
            </a:r>
            <a:r>
              <a:rPr spc="-5" dirty="0"/>
              <a:t>Feb</a:t>
            </a:r>
            <a:r>
              <a:rPr dirty="0"/>
              <a:t>-</a:t>
            </a:r>
            <a:r>
              <a:rPr spc="-10" dirty="0"/>
              <a:t>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16</a:t>
            </a:r>
            <a:r>
              <a:rPr dirty="0"/>
              <a:t>-</a:t>
            </a:r>
            <a:r>
              <a:rPr spc="-5" dirty="0"/>
              <a:t>Feb</a:t>
            </a:r>
            <a:r>
              <a:rPr dirty="0"/>
              <a:t>-</a:t>
            </a:r>
            <a:r>
              <a:rPr spc="-10" dirty="0"/>
              <a:t>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16</a:t>
            </a:r>
            <a:r>
              <a:rPr dirty="0"/>
              <a:t>-</a:t>
            </a:r>
            <a:r>
              <a:rPr spc="-5" dirty="0"/>
              <a:t>Feb</a:t>
            </a:r>
            <a:r>
              <a:rPr dirty="0"/>
              <a:t>-</a:t>
            </a:r>
            <a:r>
              <a:rPr spc="-10" dirty="0"/>
              <a:t>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736345"/>
            <a:ext cx="1035812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heavy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79244"/>
            <a:ext cx="10358120" cy="4159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6939" y="6445208"/>
            <a:ext cx="728344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16</a:t>
            </a:r>
            <a:r>
              <a:rPr dirty="0"/>
              <a:t>-</a:t>
            </a:r>
            <a:r>
              <a:rPr spc="-5" dirty="0"/>
              <a:t>Feb</a:t>
            </a:r>
            <a:r>
              <a:rPr dirty="0"/>
              <a:t>-</a:t>
            </a:r>
            <a:r>
              <a:rPr spc="-10" dirty="0"/>
              <a:t>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22900" y="6445208"/>
            <a:ext cx="13474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4333" y="6445208"/>
            <a:ext cx="24574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2739" y="1356867"/>
            <a:ext cx="2046605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0" u="none" dirty="0">
                <a:solidFill>
                  <a:srgbClr val="00AF50"/>
                </a:solidFill>
                <a:latin typeface="Arial MT"/>
                <a:cs typeface="Arial MT"/>
              </a:rPr>
              <a:t>Course</a:t>
            </a:r>
            <a:r>
              <a:rPr sz="2800" b="0" u="none" spc="-7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0" u="none" dirty="0">
                <a:solidFill>
                  <a:srgbClr val="00AF50"/>
                </a:solidFill>
                <a:latin typeface="Arial MT"/>
                <a:cs typeface="Arial MT"/>
              </a:rPr>
              <a:t>code </a:t>
            </a:r>
            <a:r>
              <a:rPr sz="2800" b="0" u="none" spc="-76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0" u="none" dirty="0">
                <a:solidFill>
                  <a:srgbClr val="00AF50"/>
                </a:solidFill>
                <a:latin typeface="Arial MT"/>
                <a:cs typeface="Arial MT"/>
              </a:rPr>
              <a:t>Course title </a:t>
            </a:r>
            <a:r>
              <a:rPr sz="2800" b="0" u="none" spc="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0" u="none" dirty="0">
                <a:solidFill>
                  <a:srgbClr val="00AF50"/>
                </a:solidFill>
                <a:latin typeface="Arial MT"/>
                <a:cs typeface="Arial MT"/>
              </a:rPr>
              <a:t>Module </a:t>
            </a:r>
            <a:r>
              <a:rPr sz="2800" b="0" u="none" spc="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0" u="none" spc="-65" dirty="0">
                <a:solidFill>
                  <a:srgbClr val="00AF50"/>
                </a:solidFill>
                <a:latin typeface="Arial MT"/>
                <a:cs typeface="Arial MT"/>
              </a:rPr>
              <a:t>Topic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6194" y="1356867"/>
            <a:ext cx="3537585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AF50"/>
                </a:solidFill>
                <a:latin typeface="Arial MT"/>
                <a:cs typeface="Arial MT"/>
              </a:rPr>
              <a:t>:</a:t>
            </a:r>
            <a:r>
              <a:rPr sz="2800" spc="-5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CSE3009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0AF50"/>
                </a:solidFill>
                <a:latin typeface="Arial MT"/>
                <a:cs typeface="Arial MT"/>
              </a:rPr>
              <a:t>:</a:t>
            </a:r>
            <a:r>
              <a:rPr sz="28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No</a:t>
            </a:r>
            <a:r>
              <a:rPr sz="2800" b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SQL</a:t>
            </a:r>
            <a:r>
              <a:rPr sz="2800" b="1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Data</a:t>
            </a:r>
            <a:r>
              <a:rPr sz="2800" b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Bases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0AF50"/>
                </a:solidFill>
                <a:latin typeface="Arial MT"/>
                <a:cs typeface="Arial MT"/>
              </a:rPr>
              <a:t>:</a:t>
            </a:r>
            <a:r>
              <a:rPr sz="2800" spc="-1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2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0AF50"/>
                </a:solidFill>
                <a:latin typeface="Arial MT"/>
                <a:cs typeface="Arial MT"/>
              </a:rPr>
              <a:t>:</a:t>
            </a:r>
            <a:r>
              <a:rPr sz="2800" spc="-1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lang="en-US" sz="2800" b="1" spc="-110" dirty="0">
                <a:solidFill>
                  <a:srgbClr val="00AF50"/>
                </a:solidFill>
                <a:latin typeface="Arial"/>
                <a:cs typeface="Arial"/>
              </a:rPr>
              <a:t>5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782" y="3635755"/>
            <a:ext cx="60382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06FC0"/>
                </a:solidFill>
                <a:latin typeface="Arial"/>
                <a:cs typeface="Arial"/>
              </a:rPr>
              <a:t>Graph</a:t>
            </a:r>
            <a:r>
              <a:rPr sz="40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6FC0"/>
                </a:solidFill>
                <a:latin typeface="Arial"/>
                <a:cs typeface="Arial"/>
              </a:rPr>
              <a:t>Based</a:t>
            </a:r>
            <a:r>
              <a:rPr sz="4000" b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6FC0"/>
                </a:solidFill>
                <a:latin typeface="Arial"/>
                <a:cs typeface="Arial"/>
              </a:rPr>
              <a:t>Data</a:t>
            </a:r>
            <a:r>
              <a:rPr sz="40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6FC0"/>
                </a:solidFill>
                <a:latin typeface="Arial"/>
                <a:cs typeface="Arial"/>
              </a:rPr>
              <a:t>Model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 dirty="0"/>
              <a:t>Dr. N. Karthika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20802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8282"/>
            <a:ext cx="5772150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session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knowledge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about</a:t>
            </a:r>
            <a:endParaRPr sz="2400">
              <a:latin typeface="Arial MT"/>
              <a:cs typeface="Arial MT"/>
            </a:endParaRPr>
          </a:p>
          <a:p>
            <a:pPr marL="1009650" indent="-539750">
              <a:lnSpc>
                <a:spcPct val="100000"/>
              </a:lnSpc>
              <a:spcBef>
                <a:spcPts val="1775"/>
              </a:spcBef>
              <a:buChar char="•"/>
              <a:tabLst>
                <a:tab pos="1009015" algn="l"/>
                <a:tab pos="1009650" algn="l"/>
              </a:tabLst>
            </a:pPr>
            <a:r>
              <a:rPr sz="2400" spc="-5" dirty="0">
                <a:latin typeface="Arial MT"/>
                <a:cs typeface="Arial MT"/>
              </a:rPr>
              <a:t>Graph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Based Data Model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4830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Graph</a:t>
            </a:r>
            <a:r>
              <a:rPr spc="-15" dirty="0"/>
              <a:t> </a:t>
            </a:r>
            <a:r>
              <a:rPr spc="-5" dirty="0"/>
              <a:t>Based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277"/>
            <a:ext cx="9894570" cy="4344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497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Graph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stores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important</a:t>
            </a:r>
            <a:r>
              <a:rPr sz="22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applications</a:t>
            </a:r>
            <a:r>
              <a:rPr sz="2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that need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analyze relationships </a:t>
            </a:r>
            <a:r>
              <a:rPr sz="2200" spc="-6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between objects </a:t>
            </a:r>
            <a:r>
              <a:rPr sz="2200" dirty="0">
                <a:latin typeface="Arial MT"/>
                <a:cs typeface="Arial MT"/>
              </a:rPr>
              <a:t>or </a:t>
            </a:r>
            <a:r>
              <a:rPr sz="2200" dirty="0">
                <a:highlight>
                  <a:srgbClr val="FFFF00"/>
                </a:highlight>
                <a:latin typeface="Arial MT"/>
                <a:cs typeface="Arial MT"/>
              </a:rPr>
              <a:t>visit all </a:t>
            </a:r>
            <a:r>
              <a:rPr sz="2200" spc="-5" dirty="0">
                <a:highlight>
                  <a:srgbClr val="FFFF00"/>
                </a:highlight>
                <a:latin typeface="Arial MT"/>
                <a:cs typeface="Arial MT"/>
              </a:rPr>
              <a:t>nodes </a:t>
            </a:r>
            <a:r>
              <a:rPr sz="2200" dirty="0">
                <a:latin typeface="Arial MT"/>
                <a:cs typeface="Arial MT"/>
              </a:rPr>
              <a:t>in a graph in a particular manner (graph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traversal).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Arial MT"/>
                <a:cs typeface="Arial MT"/>
              </a:rPr>
              <a:t>Graph stores </a:t>
            </a:r>
            <a:r>
              <a:rPr sz="2200" spc="-5" dirty="0">
                <a:latin typeface="Arial MT"/>
                <a:cs typeface="Arial MT"/>
              </a:rPr>
              <a:t>are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highly optimized </a:t>
            </a:r>
            <a:r>
              <a:rPr sz="2200" dirty="0">
                <a:latin typeface="Arial MT"/>
                <a:cs typeface="Arial MT"/>
              </a:rPr>
              <a:t>to 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efficiently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store graph nodes 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and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links</a:t>
            </a:r>
            <a:r>
              <a:rPr sz="2200" dirty="0">
                <a:latin typeface="Arial MT"/>
                <a:cs typeface="Arial MT"/>
              </a:rPr>
              <a:t>, and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allow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you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query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these graphs.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 MT"/>
              <a:cs typeface="Arial MT"/>
            </a:endParaRPr>
          </a:p>
          <a:p>
            <a:pPr marL="12700" marR="18796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Arial MT"/>
                <a:cs typeface="Arial MT"/>
              </a:rPr>
              <a:t>Graph databases are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useful for any business problem that has </a:t>
            </a:r>
            <a:r>
              <a:rPr sz="22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complex </a:t>
            </a:r>
            <a:r>
              <a:rPr sz="2200" spc="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relationships</a:t>
            </a:r>
            <a:r>
              <a:rPr sz="2200" spc="-1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between</a:t>
            </a:r>
            <a:r>
              <a:rPr sz="22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objects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such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social</a:t>
            </a:r>
            <a:r>
              <a:rPr sz="22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networking,</a:t>
            </a:r>
            <a:r>
              <a:rPr sz="2200" spc="-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rules-based</a:t>
            </a:r>
            <a:r>
              <a:rPr sz="2200" spc="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engines, </a:t>
            </a:r>
            <a:r>
              <a:rPr sz="2200" spc="-60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creating</a:t>
            </a:r>
            <a:r>
              <a:rPr sz="2200" spc="-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mashups</a:t>
            </a:r>
            <a:r>
              <a:rPr sz="22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 MT"/>
              <a:cs typeface="Arial MT"/>
            </a:endParaRPr>
          </a:p>
          <a:p>
            <a:pPr marL="12700" marR="389890">
              <a:lnSpc>
                <a:spcPct val="100000"/>
              </a:lnSpc>
            </a:pP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Graph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systems </a:t>
            </a:r>
            <a:r>
              <a:rPr sz="2200" dirty="0">
                <a:latin typeface="Arial MT"/>
                <a:cs typeface="Arial MT"/>
              </a:rPr>
              <a:t>that can </a:t>
            </a:r>
            <a:r>
              <a:rPr sz="22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quickly analyze complex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network structures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dirty="0">
                <a:highlight>
                  <a:srgbClr val="FFFF00"/>
                </a:highlight>
                <a:latin typeface="Arial MT"/>
                <a:cs typeface="Arial MT"/>
              </a:rPr>
              <a:t>find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highlight>
                  <a:srgbClr val="FFFF00"/>
                </a:highlight>
                <a:latin typeface="Arial MT"/>
                <a:cs typeface="Arial MT"/>
              </a:rPr>
              <a:t>patterns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within these structures.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50107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Overview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graph</a:t>
            </a:r>
            <a:r>
              <a:rPr spc="-10" dirty="0"/>
              <a:t> </a:t>
            </a:r>
            <a:r>
              <a:rPr spc="-5" dirty="0"/>
              <a:t>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7110"/>
            <a:ext cx="10105390" cy="277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300" spc="-5" dirty="0">
                <a:latin typeface="Arial MT"/>
                <a:cs typeface="Arial MT"/>
              </a:rPr>
              <a:t>A graph store is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a system that </a:t>
            </a:r>
            <a:r>
              <a:rPr sz="23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contains a sequence of nodes and relationships </a:t>
            </a:r>
            <a:r>
              <a:rPr sz="2300" spc="-63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sz="23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23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combined</a:t>
            </a:r>
            <a:r>
              <a:rPr sz="23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to create</a:t>
            </a:r>
            <a:r>
              <a:rPr sz="23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a graph</a:t>
            </a:r>
            <a:r>
              <a:rPr sz="2300" spc="-5" dirty="0">
                <a:latin typeface="Arial MT"/>
                <a:cs typeface="Arial MT"/>
              </a:rPr>
              <a:t>.</a:t>
            </a:r>
            <a:endParaRPr sz="23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 MT"/>
              <a:cs typeface="Arial MT"/>
            </a:endParaRPr>
          </a:p>
          <a:p>
            <a:pPr marL="12700" marR="396240">
              <a:lnSpc>
                <a:spcPct val="120100"/>
              </a:lnSpc>
            </a:pPr>
            <a:r>
              <a:rPr sz="2300" dirty="0">
                <a:latin typeface="Arial MT"/>
                <a:cs typeface="Arial MT"/>
              </a:rPr>
              <a:t>A</a:t>
            </a:r>
            <a:r>
              <a:rPr sz="2300" spc="-13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graph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store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consists of</a:t>
            </a:r>
            <a:r>
              <a:rPr sz="2300" spc="-5" dirty="0">
                <a:latin typeface="Arial MT"/>
                <a:cs typeface="Arial MT"/>
              </a:rPr>
              <a:t> many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“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node-relationship-node</a:t>
            </a:r>
            <a:r>
              <a:rPr sz="23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structures</a:t>
            </a:r>
            <a:r>
              <a:rPr sz="2300" spc="-5" dirty="0">
                <a:latin typeface="Arial MT"/>
                <a:cs typeface="Arial MT"/>
              </a:rPr>
              <a:t>”.</a:t>
            </a:r>
            <a:r>
              <a:rPr sz="2300" spc="-20" dirty="0">
                <a:latin typeface="Arial MT"/>
                <a:cs typeface="Arial MT"/>
              </a:rPr>
              <a:t> </a:t>
            </a:r>
            <a:endParaRPr lang="en-US" sz="2300" spc="-20" dirty="0">
              <a:latin typeface="Arial MT"/>
              <a:cs typeface="Arial MT"/>
            </a:endParaRPr>
          </a:p>
          <a:p>
            <a:pPr marL="12700" marR="396240">
              <a:lnSpc>
                <a:spcPct val="120100"/>
              </a:lnSpc>
            </a:pPr>
            <a:r>
              <a:rPr sz="2300" dirty="0">
                <a:latin typeface="Arial MT"/>
                <a:cs typeface="Arial MT"/>
              </a:rPr>
              <a:t>It</a:t>
            </a:r>
            <a:r>
              <a:rPr lang="en-US" sz="2300" dirty="0">
                <a:latin typeface="Arial MT"/>
                <a:cs typeface="Arial MT"/>
              </a:rPr>
              <a:t> i</a:t>
            </a:r>
            <a:r>
              <a:rPr sz="2300" dirty="0">
                <a:latin typeface="Arial MT"/>
                <a:cs typeface="Arial MT"/>
              </a:rPr>
              <a:t>s </a:t>
            </a:r>
            <a:r>
              <a:rPr sz="2300" spc="-5" dirty="0">
                <a:latin typeface="Arial MT"/>
                <a:cs typeface="Arial MT"/>
              </a:rPr>
              <a:t>also </a:t>
            </a:r>
            <a:r>
              <a:rPr sz="2300" spc="-62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referred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as </a:t>
            </a:r>
            <a:r>
              <a:rPr sz="2300" spc="-5" dirty="0">
                <a:highlight>
                  <a:srgbClr val="FFFF00"/>
                </a:highlight>
                <a:latin typeface="Arial MT"/>
                <a:cs typeface="Arial MT"/>
              </a:rPr>
              <a:t>triple stores</a:t>
            </a:r>
            <a:r>
              <a:rPr sz="2300" spc="-5" dirty="0">
                <a:latin typeface="Arial MT"/>
                <a:cs typeface="Arial MT"/>
              </a:rPr>
              <a:t>.</a:t>
            </a:r>
            <a:endParaRPr sz="23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3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Properties</a:t>
            </a:r>
            <a:r>
              <a:rPr sz="23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are used</a:t>
            </a:r>
            <a:r>
              <a:rPr sz="23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3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describe</a:t>
            </a:r>
            <a:r>
              <a:rPr sz="23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both the</a:t>
            </a:r>
            <a:r>
              <a:rPr sz="23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nodes and</a:t>
            </a:r>
            <a:r>
              <a:rPr sz="23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Arial MT"/>
                <a:cs typeface="Arial MT"/>
              </a:rPr>
              <a:t>relationships</a:t>
            </a:r>
            <a:r>
              <a:rPr sz="2300" spc="-5" dirty="0">
                <a:latin typeface="Arial MT"/>
                <a:cs typeface="Arial MT"/>
              </a:rPr>
              <a:t>.</a:t>
            </a:r>
            <a:endParaRPr sz="23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1330" y="4719446"/>
            <a:ext cx="3990604" cy="13811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50107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Overview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graph</a:t>
            </a:r>
            <a:r>
              <a:rPr spc="-10" dirty="0"/>
              <a:t> </a:t>
            </a:r>
            <a:r>
              <a:rPr spc="-5" dirty="0"/>
              <a:t>store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38401" y="1524000"/>
            <a:ext cx="6366890" cy="4698238"/>
            <a:chOff x="2848355" y="1679448"/>
            <a:chExt cx="5956935" cy="45427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1330" y="4719447"/>
              <a:ext cx="3990604" cy="13811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8355" y="1679448"/>
              <a:ext cx="5956554" cy="454228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50107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Overview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graph</a:t>
            </a:r>
            <a:r>
              <a:rPr spc="-10" dirty="0"/>
              <a:t> </a:t>
            </a:r>
            <a:r>
              <a:rPr spc="-5" dirty="0"/>
              <a:t>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5130"/>
            <a:ext cx="10058400" cy="4146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90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Graph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stores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ideal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when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you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have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many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items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that are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related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each </a:t>
            </a:r>
            <a:r>
              <a:rPr sz="2400" spc="-6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other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complex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ways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these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relationships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have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properties</a:t>
            </a:r>
            <a:r>
              <a:rPr sz="24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(like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sister/brother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of).</a:t>
            </a:r>
          </a:p>
          <a:p>
            <a:pPr marL="12700" marR="528320" algn="just">
              <a:lnSpc>
                <a:spcPct val="120000"/>
              </a:lnSpc>
              <a:spcBef>
                <a:spcPts val="2400"/>
              </a:spcBef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Graph stores allow you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to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do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simple queries </a:t>
            </a:r>
            <a:r>
              <a:rPr sz="2400" dirty="0">
                <a:latin typeface="Arial MT"/>
                <a:cs typeface="Arial MT"/>
              </a:rPr>
              <a:t>that </a:t>
            </a:r>
            <a:r>
              <a:rPr sz="2400" spc="-5" dirty="0">
                <a:latin typeface="Arial MT"/>
                <a:cs typeface="Arial MT"/>
              </a:rPr>
              <a:t>show you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nearest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neighboring nodes as well as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queries </a:t>
            </a:r>
            <a:r>
              <a:rPr sz="2400" dirty="0">
                <a:highlight>
                  <a:srgbClr val="FFFF00"/>
                </a:highlight>
                <a:latin typeface="Arial MT"/>
                <a:cs typeface="Arial MT"/>
              </a:rPr>
              <a:t>that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look deep into networks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quickly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patterns.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20000"/>
              </a:lnSpc>
              <a:spcBef>
                <a:spcPts val="2400"/>
              </a:spcBef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Example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Storing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retrieving</a:t>
            </a:r>
            <a:r>
              <a:rPr sz="24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friends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information</a:t>
            </a:r>
            <a:r>
              <a:rPr sz="24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Graph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database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model.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50107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Overview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graph</a:t>
            </a:r>
            <a:r>
              <a:rPr spc="-10" dirty="0"/>
              <a:t> </a:t>
            </a:r>
            <a:r>
              <a:rPr spc="-5" dirty="0"/>
              <a:t>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277"/>
            <a:ext cx="10226675" cy="4306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Graph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nodes are usually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representations of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real-world objects</a:t>
            </a:r>
            <a:r>
              <a:rPr sz="2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like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nouns.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relationships </a:t>
            </a:r>
            <a:r>
              <a:rPr sz="2200" dirty="0">
                <a:latin typeface="Arial MT"/>
                <a:cs typeface="Arial MT"/>
              </a:rPr>
              <a:t>can be thought of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as connections between these objects </a:t>
            </a:r>
            <a:r>
              <a:rPr sz="2200" spc="-5" dirty="0">
                <a:latin typeface="Arial MT"/>
                <a:cs typeface="Arial MT"/>
              </a:rPr>
              <a:t>and are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typically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represented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highlight>
                  <a:srgbClr val="FFFF00"/>
                </a:highlight>
                <a:latin typeface="Arial MT"/>
                <a:cs typeface="Arial MT"/>
              </a:rPr>
              <a:t>arcs</a:t>
            </a:r>
            <a:r>
              <a:rPr sz="2200" dirty="0">
                <a:latin typeface="Arial MT"/>
                <a:cs typeface="Arial MT"/>
              </a:rPr>
              <a:t> (lines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 connect) between </a:t>
            </a:r>
            <a:r>
              <a:rPr sz="2200" dirty="0">
                <a:highlight>
                  <a:srgbClr val="FFFF00"/>
                </a:highlight>
                <a:latin typeface="Arial MT"/>
                <a:cs typeface="Arial MT"/>
              </a:rPr>
              <a:t>circles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 diagrams.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Graph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queries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2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similar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traversing nodes</a:t>
            </a:r>
            <a:r>
              <a:rPr sz="22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" dirty="0">
                <a:latin typeface="Arial MT"/>
                <a:cs typeface="Arial MT"/>
              </a:rPr>
              <a:t> graph.</a:t>
            </a:r>
            <a:endParaRPr sz="2200" dirty="0">
              <a:latin typeface="Arial MT"/>
              <a:cs typeface="Arial MT"/>
            </a:endParaRPr>
          </a:p>
          <a:p>
            <a:pPr marL="734695" indent="-367030">
              <a:lnSpc>
                <a:spcPct val="100000"/>
              </a:lnSpc>
              <a:spcBef>
                <a:spcPts val="1200"/>
              </a:spcBef>
              <a:buChar char="•"/>
              <a:tabLst>
                <a:tab pos="734695" algn="l"/>
                <a:tab pos="735330" algn="l"/>
              </a:tabLst>
            </a:pPr>
            <a:r>
              <a:rPr sz="2200" spc="-5" dirty="0">
                <a:latin typeface="Arial MT"/>
                <a:cs typeface="Arial MT"/>
              </a:rPr>
              <a:t>What’s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shortest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path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between</a:t>
            </a:r>
            <a:r>
              <a:rPr sz="2200" dirty="0">
                <a:latin typeface="Arial MT"/>
                <a:cs typeface="Arial MT"/>
              </a:rPr>
              <a:t> two </a:t>
            </a:r>
            <a:r>
              <a:rPr sz="2200" spc="-5" dirty="0">
                <a:latin typeface="Arial MT"/>
                <a:cs typeface="Arial MT"/>
              </a:rPr>
              <a:t>nodes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dirty="0">
                <a:latin typeface="Arial MT"/>
                <a:cs typeface="Arial MT"/>
              </a:rPr>
              <a:t> a graph?</a:t>
            </a:r>
          </a:p>
          <a:p>
            <a:pPr marL="734695" indent="-367030">
              <a:lnSpc>
                <a:spcPct val="100000"/>
              </a:lnSpc>
              <a:spcBef>
                <a:spcPts val="1200"/>
              </a:spcBef>
              <a:buChar char="•"/>
              <a:tabLst>
                <a:tab pos="734695" algn="l"/>
                <a:tab pos="735330" algn="l"/>
              </a:tabLst>
            </a:pPr>
            <a:r>
              <a:rPr sz="2200" dirty="0">
                <a:latin typeface="Arial MT"/>
                <a:cs typeface="Arial MT"/>
              </a:rPr>
              <a:t>What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nodes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neighboring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nodes that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specific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properties?</a:t>
            </a:r>
          </a:p>
          <a:p>
            <a:pPr marL="734695" indent="-367030">
              <a:lnSpc>
                <a:spcPct val="100000"/>
              </a:lnSpc>
              <a:spcBef>
                <a:spcPts val="1200"/>
              </a:spcBef>
              <a:buChar char="•"/>
              <a:tabLst>
                <a:tab pos="734695" algn="l"/>
                <a:tab pos="735330" algn="l"/>
              </a:tabLst>
            </a:pPr>
            <a:r>
              <a:rPr sz="2200" dirty="0">
                <a:latin typeface="Arial MT"/>
                <a:cs typeface="Arial MT"/>
              </a:rPr>
              <a:t>Given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any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two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nodes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graph,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how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similar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 their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neighboring nodes?</a:t>
            </a:r>
          </a:p>
          <a:p>
            <a:pPr marL="734695" marR="330835" indent="-367030">
              <a:lnSpc>
                <a:spcPct val="100000"/>
              </a:lnSpc>
              <a:spcBef>
                <a:spcPts val="1200"/>
              </a:spcBef>
              <a:buChar char="•"/>
              <a:tabLst>
                <a:tab pos="734695" algn="l"/>
                <a:tab pos="735330" algn="l"/>
              </a:tabLst>
            </a:pPr>
            <a:r>
              <a:rPr sz="2200" spc="-5" dirty="0">
                <a:latin typeface="Arial MT"/>
                <a:cs typeface="Arial MT"/>
              </a:rPr>
              <a:t>What’s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average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connectedness of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various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points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 a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graph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other?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50107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Overview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graph</a:t>
            </a:r>
            <a:r>
              <a:rPr spc="-10" dirty="0"/>
              <a:t> </a:t>
            </a:r>
            <a:r>
              <a:rPr spc="-5" dirty="0"/>
              <a:t>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5130"/>
            <a:ext cx="10214610" cy="4012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5895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Graph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stores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relate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nodes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together,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understanding</a:t>
            </a:r>
            <a:r>
              <a:rPr sz="24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that 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two</a:t>
            </a:r>
            <a:r>
              <a:rPr sz="2400" spc="1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nodes</a:t>
            </a:r>
            <a:r>
              <a:rPr sz="2400" spc="3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with 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the </a:t>
            </a:r>
            <a:r>
              <a:rPr sz="2400" spc="-65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same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identifiers</a:t>
            </a:r>
            <a:r>
              <a:rPr sz="2400" spc="1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the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same</a:t>
            </a:r>
            <a:r>
              <a:rPr sz="2400" spc="-1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node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20100"/>
              </a:lnSpc>
              <a:spcBef>
                <a:spcPts val="2395"/>
              </a:spcBef>
            </a:pPr>
            <a:r>
              <a:rPr sz="2400" spc="-5" dirty="0">
                <a:latin typeface="Arial MT"/>
                <a:cs typeface="Arial MT"/>
              </a:rPr>
              <a:t>Graph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stores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assign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internal</a:t>
            </a:r>
            <a:r>
              <a:rPr sz="2400" spc="3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identifiers</a:t>
            </a:r>
            <a:r>
              <a:rPr sz="2400" spc="3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to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nodes</a:t>
            </a:r>
            <a:r>
              <a:rPr sz="2400" spc="25" dirty="0">
                <a:solidFill>
                  <a:srgbClr val="FF0000"/>
                </a:solidFill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those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identifiers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join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networks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together.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Graph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store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joins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computationally</a:t>
            </a:r>
            <a:r>
              <a:rPr sz="24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lightweight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fast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 marL="12700" marR="337820">
              <a:lnSpc>
                <a:spcPct val="120000"/>
              </a:lnSpc>
              <a:spcBef>
                <a:spcPts val="2400"/>
              </a:spcBef>
            </a:pPr>
            <a:r>
              <a:rPr sz="2400" spc="-5" dirty="0">
                <a:latin typeface="Arial MT"/>
                <a:cs typeface="Arial MT"/>
              </a:rPr>
              <a:t>Once</a:t>
            </a:r>
            <a:r>
              <a:rPr sz="2400" dirty="0">
                <a:latin typeface="Arial MT"/>
                <a:cs typeface="Arial MT"/>
              </a:rPr>
              <a:t> the </a:t>
            </a:r>
            <a:r>
              <a:rPr sz="2400" spc="-5" dirty="0">
                <a:latin typeface="Arial MT"/>
                <a:cs typeface="Arial MT"/>
              </a:rPr>
              <a:t>graph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loaded</a:t>
            </a:r>
            <a:r>
              <a:rPr sz="2400" spc="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into</a:t>
            </a:r>
            <a:r>
              <a:rPr sz="240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30" dirty="0">
                <a:highlight>
                  <a:srgbClr val="FFFF00"/>
                </a:highlight>
                <a:latin typeface="Arial MT"/>
                <a:cs typeface="Arial MT"/>
              </a:rPr>
              <a:t>memory</a:t>
            </a:r>
            <a:r>
              <a:rPr sz="2400" spc="-30" dirty="0">
                <a:latin typeface="Arial MT"/>
                <a:cs typeface="Arial MT"/>
              </a:rPr>
              <a:t>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retrieving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doesn’t</a:t>
            </a:r>
            <a:r>
              <a:rPr sz="2400" spc="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require </a:t>
            </a:r>
            <a:r>
              <a:rPr sz="2400" spc="-65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disk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input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output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operations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49498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Graph</a:t>
            </a:r>
            <a:r>
              <a:rPr spc="-15" dirty="0"/>
              <a:t> </a:t>
            </a:r>
            <a:r>
              <a:rPr spc="-5" dirty="0"/>
              <a:t>store</a:t>
            </a:r>
            <a:r>
              <a:rPr spc="-15" dirty="0"/>
              <a:t> </a:t>
            </a:r>
            <a:r>
              <a:rPr spc="-5" dirty="0"/>
              <a:t>-</a:t>
            </a:r>
            <a:r>
              <a:rPr spc="-135" dirty="0"/>
              <a:t> </a:t>
            </a:r>
            <a:r>
              <a:rPr spc="-5" dirty="0"/>
              <a:t>An</a:t>
            </a:r>
            <a:r>
              <a:rPr spc="-1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84274"/>
            <a:ext cx="5822950" cy="425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An example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using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graph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represent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web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page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contains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links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to </a:t>
            </a:r>
            <a:r>
              <a:rPr sz="2400" spc="-6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two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other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web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pages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12700" marR="102235">
              <a:lnSpc>
                <a:spcPct val="110000"/>
              </a:lnSpc>
              <a:spcBef>
                <a:spcPts val="24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URL</a:t>
            </a:r>
            <a:r>
              <a:rPr sz="2400" spc="-7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dirty="0">
                <a:highlight>
                  <a:srgbClr val="FFFF00"/>
                </a:highlight>
                <a:latin typeface="Arial MT"/>
                <a:cs typeface="Arial MT"/>
              </a:rPr>
              <a:t>of</a:t>
            </a:r>
            <a:r>
              <a:rPr sz="24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dirty="0">
                <a:highlight>
                  <a:srgbClr val="FFFF00"/>
                </a:highlight>
                <a:latin typeface="Arial MT"/>
                <a:cs typeface="Arial MT"/>
              </a:rPr>
              <a:t>the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source</a:t>
            </a:r>
            <a:r>
              <a:rPr sz="2400" spc="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web</a:t>
            </a:r>
            <a:r>
              <a:rPr sz="240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page</a:t>
            </a:r>
            <a:r>
              <a:rPr sz="2400" spc="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stored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 a </a:t>
            </a:r>
            <a:r>
              <a:rPr sz="2400" spc="-5" dirty="0">
                <a:highlight>
                  <a:srgbClr val="FFFF00"/>
                </a:highlight>
                <a:latin typeface="Arial MT"/>
                <a:cs typeface="Arial MT"/>
              </a:rPr>
              <a:t>URL property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each link </a:t>
            </a:r>
            <a:r>
              <a:rPr sz="2400" spc="-5" dirty="0">
                <a:latin typeface="Arial MT"/>
                <a:cs typeface="Arial MT"/>
              </a:rPr>
              <a:t>is a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relationship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dirty="0">
                <a:latin typeface="Arial MT"/>
                <a:cs typeface="Arial MT"/>
              </a:rPr>
              <a:t> a</a:t>
            </a:r>
            <a:r>
              <a:rPr sz="2400" spc="-5" dirty="0">
                <a:latin typeface="Arial MT"/>
                <a:cs typeface="Arial MT"/>
              </a:rPr>
              <a:t> “points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to” </a:t>
            </a:r>
            <a:r>
              <a:rPr sz="2400" spc="-25" dirty="0">
                <a:latin typeface="Arial MT"/>
                <a:cs typeface="Arial MT"/>
              </a:rPr>
              <a:t>property.</a:t>
            </a:r>
            <a:endParaRPr sz="2400" dirty="0">
              <a:latin typeface="Arial MT"/>
              <a:cs typeface="Arial MT"/>
            </a:endParaRPr>
          </a:p>
          <a:p>
            <a:pPr marL="12700" marR="259715">
              <a:lnSpc>
                <a:spcPct val="110000"/>
              </a:lnSpc>
              <a:spcBef>
                <a:spcPts val="2400"/>
              </a:spcBef>
            </a:pP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link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represented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another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 a property</a:t>
            </a:r>
            <a:r>
              <a:rPr sz="2400" dirty="0">
                <a:latin typeface="Arial MT"/>
                <a:cs typeface="Arial MT"/>
              </a:rPr>
              <a:t> that </a:t>
            </a:r>
            <a:r>
              <a:rPr sz="2400" spc="-5" dirty="0">
                <a:latin typeface="Arial MT"/>
                <a:cs typeface="Arial MT"/>
              </a:rPr>
              <a:t>contains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destination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page’s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URL.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7545" y="2242897"/>
            <a:ext cx="4057113" cy="228737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8502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Linking</a:t>
            </a:r>
            <a:r>
              <a:rPr spc="-25" dirty="0"/>
              <a:t> </a:t>
            </a:r>
            <a:r>
              <a:rPr spc="-5" dirty="0"/>
              <a:t>external</a:t>
            </a:r>
            <a:r>
              <a:rPr dirty="0"/>
              <a:t> </a:t>
            </a:r>
            <a:r>
              <a:rPr spc="-5" dirty="0"/>
              <a:t>data</a:t>
            </a:r>
            <a:r>
              <a:rPr dirty="0"/>
              <a:t> </a:t>
            </a:r>
            <a:r>
              <a:rPr spc="-5" dirty="0"/>
              <a:t>with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RDF</a:t>
            </a:r>
            <a:r>
              <a:rPr dirty="0"/>
              <a:t> </a:t>
            </a:r>
            <a:r>
              <a:rPr spc="-5" dirty="0"/>
              <a:t>standard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679244"/>
            <a:ext cx="10358120" cy="3246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</a:rPr>
              <a:t>Resource</a:t>
            </a:r>
            <a:r>
              <a:rPr sz="2400" spc="2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Description</a:t>
            </a:r>
            <a:r>
              <a:rPr sz="2400" spc="2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Format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(RDF)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spc="-5" dirty="0"/>
              <a:t>is</a:t>
            </a:r>
            <a:r>
              <a:rPr sz="2400" spc="10" dirty="0"/>
              <a:t> </a:t>
            </a:r>
            <a:r>
              <a:rPr sz="2400" dirty="0"/>
              <a:t>the W3C</a:t>
            </a:r>
            <a:r>
              <a:rPr sz="2400" spc="10" dirty="0"/>
              <a:t> </a:t>
            </a:r>
            <a:r>
              <a:rPr sz="2400" spc="-5" dirty="0"/>
              <a:t>generalized</a:t>
            </a:r>
            <a:r>
              <a:rPr sz="2400" spc="30" dirty="0"/>
              <a:t> </a:t>
            </a:r>
            <a:r>
              <a:rPr sz="2400" spc="-5" dirty="0"/>
              <a:t>structure</a:t>
            </a:r>
            <a:r>
              <a:rPr sz="2400" spc="10" dirty="0"/>
              <a:t> </a:t>
            </a:r>
            <a:r>
              <a:rPr sz="2400" dirty="0"/>
              <a:t>to </a:t>
            </a:r>
            <a:r>
              <a:rPr sz="2400" spc="-655" dirty="0"/>
              <a:t> </a:t>
            </a:r>
            <a:r>
              <a:rPr sz="2400" dirty="0">
                <a:highlight>
                  <a:srgbClr val="FFFF00"/>
                </a:highlight>
              </a:rPr>
              <a:t>store</a:t>
            </a:r>
            <a:r>
              <a:rPr sz="2400" spc="-10" dirty="0">
                <a:highlight>
                  <a:srgbClr val="FFFF00"/>
                </a:highlight>
              </a:rPr>
              <a:t> </a:t>
            </a:r>
            <a:r>
              <a:rPr sz="2400" dirty="0">
                <a:highlight>
                  <a:srgbClr val="FFFF00"/>
                </a:highlight>
              </a:rPr>
              <a:t>the</a:t>
            </a:r>
            <a:r>
              <a:rPr sz="2400" spc="10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information</a:t>
            </a:r>
            <a:r>
              <a:rPr sz="2400" spc="15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about</a:t>
            </a:r>
            <a:r>
              <a:rPr sz="2400" spc="10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the</a:t>
            </a:r>
            <a:r>
              <a:rPr sz="2400" spc="5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links</a:t>
            </a:r>
            <a:r>
              <a:rPr sz="2400" spc="5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between</a:t>
            </a:r>
            <a:r>
              <a:rPr sz="2400" spc="20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web</a:t>
            </a:r>
            <a:r>
              <a:rPr sz="2400" spc="10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pages</a:t>
            </a:r>
            <a:r>
              <a:rPr sz="2400" spc="15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and</a:t>
            </a:r>
            <a:r>
              <a:rPr sz="2400" dirty="0">
                <a:highlight>
                  <a:srgbClr val="FFFF00"/>
                </a:highlight>
              </a:rPr>
              <a:t> objects</a:t>
            </a:r>
            <a:r>
              <a:rPr sz="2400" dirty="0"/>
              <a:t>.</a:t>
            </a:r>
          </a:p>
          <a:p>
            <a:pPr marL="12700" marR="360045">
              <a:lnSpc>
                <a:spcPct val="120100"/>
              </a:lnSpc>
              <a:spcBef>
                <a:spcPts val="2395"/>
              </a:spcBef>
            </a:pPr>
            <a:r>
              <a:rPr sz="2400" dirty="0"/>
              <a:t>RDF</a:t>
            </a:r>
            <a:r>
              <a:rPr sz="2400" spc="10" dirty="0"/>
              <a:t> </a:t>
            </a:r>
            <a:r>
              <a:rPr sz="2400" spc="-5" dirty="0"/>
              <a:t>was</a:t>
            </a:r>
            <a:r>
              <a:rPr sz="2400" spc="10" dirty="0"/>
              <a:t> </a:t>
            </a:r>
            <a:r>
              <a:rPr sz="2400" spc="-5" dirty="0"/>
              <a:t>specifically</a:t>
            </a:r>
            <a:r>
              <a:rPr sz="2400" spc="35" dirty="0"/>
              <a:t> </a:t>
            </a:r>
            <a:r>
              <a:rPr sz="2400" spc="-5" dirty="0">
                <a:solidFill>
                  <a:srgbClr val="FF0000"/>
                </a:solidFill>
              </a:rPr>
              <a:t>created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to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join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together</a:t>
            </a:r>
            <a:r>
              <a:rPr sz="2400" spc="2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external</a:t>
            </a:r>
            <a:r>
              <a:rPr sz="2400" spc="3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datasets</a:t>
            </a:r>
            <a:r>
              <a:rPr sz="2400" spc="2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created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by </a:t>
            </a:r>
            <a:r>
              <a:rPr sz="2400" spc="-650" dirty="0">
                <a:solidFill>
                  <a:srgbClr val="FF0000"/>
                </a:solidFill>
              </a:rPr>
              <a:t> </a:t>
            </a:r>
            <a:r>
              <a:rPr sz="2400" spc="-10" dirty="0">
                <a:solidFill>
                  <a:srgbClr val="FF0000"/>
                </a:solidFill>
              </a:rPr>
              <a:t>different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organizations</a:t>
            </a:r>
            <a:r>
              <a:rPr sz="2400" spc="-5" dirty="0"/>
              <a:t>.</a:t>
            </a:r>
            <a:endParaRPr sz="2400" dirty="0"/>
          </a:p>
          <a:p>
            <a:pPr marL="12700" marR="186690">
              <a:lnSpc>
                <a:spcPct val="120000"/>
              </a:lnSpc>
              <a:spcBef>
                <a:spcPts val="2400"/>
              </a:spcBef>
            </a:pPr>
            <a:r>
              <a:rPr sz="2400" spc="-5" dirty="0">
                <a:solidFill>
                  <a:srgbClr val="FF0000"/>
                </a:solidFill>
              </a:rPr>
              <a:t>RDF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uses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</a:rPr>
              <a:t>directed</a:t>
            </a:r>
            <a:r>
              <a:rPr sz="2400" spc="2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</a:rPr>
              <a:t>graphs</a:t>
            </a:r>
            <a:r>
              <a:rPr sz="2400" spc="-5" dirty="0"/>
              <a:t>,</a:t>
            </a:r>
            <a:r>
              <a:rPr sz="2400" spc="25" dirty="0"/>
              <a:t> </a:t>
            </a:r>
            <a:r>
              <a:rPr sz="2400" spc="-5" dirty="0"/>
              <a:t>where</a:t>
            </a:r>
            <a:r>
              <a:rPr sz="2400" spc="20" dirty="0"/>
              <a:t> </a:t>
            </a:r>
            <a:r>
              <a:rPr sz="2400" dirty="0"/>
              <a:t>the</a:t>
            </a:r>
            <a:r>
              <a:rPr sz="2400" spc="15" dirty="0"/>
              <a:t> </a:t>
            </a:r>
            <a:r>
              <a:rPr sz="2400" spc="-5" dirty="0"/>
              <a:t>relationship</a:t>
            </a:r>
            <a:r>
              <a:rPr sz="2400" spc="30" dirty="0"/>
              <a:t> </a:t>
            </a:r>
            <a:r>
              <a:rPr sz="2400" spc="-5" dirty="0"/>
              <a:t>specifically</a:t>
            </a:r>
            <a:r>
              <a:rPr sz="2400" spc="40" dirty="0"/>
              <a:t> </a:t>
            </a:r>
            <a:r>
              <a:rPr sz="2400" spc="-5" dirty="0"/>
              <a:t>points</a:t>
            </a:r>
            <a:r>
              <a:rPr sz="2400" spc="25" dirty="0"/>
              <a:t> </a:t>
            </a:r>
            <a:r>
              <a:rPr sz="2400" dirty="0"/>
              <a:t>from</a:t>
            </a:r>
            <a:r>
              <a:rPr sz="2400" spc="15" dirty="0"/>
              <a:t> </a:t>
            </a:r>
            <a:r>
              <a:rPr sz="2400" spc="-5" dirty="0"/>
              <a:t>a </a:t>
            </a:r>
            <a:r>
              <a:rPr sz="2400" spc="-650" dirty="0"/>
              <a:t> </a:t>
            </a:r>
            <a:r>
              <a:rPr sz="2400" spc="-5" dirty="0"/>
              <a:t>source</a:t>
            </a:r>
            <a:r>
              <a:rPr sz="2400" spc="5" dirty="0"/>
              <a:t> </a:t>
            </a:r>
            <a:r>
              <a:rPr sz="2400" spc="-5" dirty="0"/>
              <a:t>node</a:t>
            </a:r>
            <a:r>
              <a:rPr sz="2400" spc="10" dirty="0"/>
              <a:t> </a:t>
            </a:r>
            <a:r>
              <a:rPr sz="2400" dirty="0"/>
              <a:t>to</a:t>
            </a:r>
            <a:r>
              <a:rPr sz="2400" spc="-15" dirty="0"/>
              <a:t> </a:t>
            </a:r>
            <a:r>
              <a:rPr sz="2400" spc="-5" dirty="0"/>
              <a:t>a</a:t>
            </a:r>
            <a:r>
              <a:rPr sz="2400" dirty="0"/>
              <a:t> </a:t>
            </a:r>
            <a:r>
              <a:rPr sz="2400" spc="-5" dirty="0"/>
              <a:t>destination</a:t>
            </a:r>
            <a:r>
              <a:rPr sz="2400" spc="20" dirty="0"/>
              <a:t> </a:t>
            </a:r>
            <a:r>
              <a:rPr sz="2400" spc="-5" dirty="0"/>
              <a:t>node.</a:t>
            </a:r>
            <a:endParaRPr sz="24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8502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Linking</a:t>
            </a:r>
            <a:r>
              <a:rPr spc="-25" dirty="0"/>
              <a:t> </a:t>
            </a:r>
            <a:r>
              <a:rPr spc="-5" dirty="0"/>
              <a:t>external</a:t>
            </a:r>
            <a:r>
              <a:rPr dirty="0"/>
              <a:t> </a:t>
            </a:r>
            <a:r>
              <a:rPr spc="-5" dirty="0"/>
              <a:t>data</a:t>
            </a:r>
            <a:r>
              <a:rPr dirty="0"/>
              <a:t> </a:t>
            </a:r>
            <a:r>
              <a:rPr spc="-5" dirty="0"/>
              <a:t>with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RDF</a:t>
            </a:r>
            <a:r>
              <a:rPr dirty="0"/>
              <a:t> </a:t>
            </a:r>
            <a:r>
              <a:rPr spc="-5" dirty="0"/>
              <a:t>standard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679244"/>
            <a:ext cx="10358120" cy="20526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2565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</a:rPr>
              <a:t>The ability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to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traverse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a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graph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relies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on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the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fact</a:t>
            </a:r>
            <a:r>
              <a:rPr sz="2400" spc="-10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that</a:t>
            </a:r>
            <a:r>
              <a:rPr sz="2400" spc="-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</a:rPr>
              <a:t>two</a:t>
            </a:r>
            <a:r>
              <a:rPr sz="2400" spc="1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</a:rPr>
              <a:t>nodes</a:t>
            </a:r>
            <a:r>
              <a:rPr sz="2400" spc="2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</a:rPr>
              <a:t>in</a:t>
            </a:r>
            <a:r>
              <a:rPr sz="2400" spc="5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sz="2400" spc="-10" dirty="0">
                <a:solidFill>
                  <a:srgbClr val="FF0000"/>
                </a:solidFill>
                <a:highlight>
                  <a:srgbClr val="FFFF00"/>
                </a:highlight>
              </a:rPr>
              <a:t>different </a:t>
            </a:r>
            <a:r>
              <a:rPr sz="2400" spc="-65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</a:rPr>
              <a:t>groups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reference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the</a:t>
            </a:r>
            <a:r>
              <a:rPr sz="2400" spc="-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same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physical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object</a:t>
            </a:r>
            <a:r>
              <a:rPr sz="2400" spc="-5" dirty="0"/>
              <a:t>.</a:t>
            </a:r>
            <a:endParaRPr sz="2400" dirty="0"/>
          </a:p>
          <a:p>
            <a:pPr marL="12700" marR="5080">
              <a:lnSpc>
                <a:spcPct val="120100"/>
              </a:lnSpc>
              <a:spcBef>
                <a:spcPts val="2395"/>
              </a:spcBef>
            </a:pPr>
            <a:r>
              <a:rPr sz="2400" dirty="0"/>
              <a:t>For</a:t>
            </a:r>
            <a:r>
              <a:rPr sz="2400" spc="-5" dirty="0"/>
              <a:t> example,</a:t>
            </a:r>
            <a:r>
              <a:rPr sz="2400" spc="25" dirty="0"/>
              <a:t> </a:t>
            </a:r>
            <a:r>
              <a:rPr sz="2400" dirty="0"/>
              <a:t>the</a:t>
            </a:r>
            <a:r>
              <a:rPr sz="2400" spc="-5" dirty="0"/>
              <a:t> Person123</a:t>
            </a:r>
            <a:r>
              <a:rPr sz="2400" spc="15" dirty="0"/>
              <a:t> </a:t>
            </a:r>
            <a:r>
              <a:rPr sz="2400" spc="-5" dirty="0"/>
              <a:t>node</a:t>
            </a:r>
            <a:r>
              <a:rPr sz="2400" spc="25" dirty="0"/>
              <a:t> </a:t>
            </a:r>
            <a:r>
              <a:rPr sz="2400" spc="-5" dirty="0"/>
              <a:t>needs</a:t>
            </a:r>
            <a:r>
              <a:rPr sz="2400" spc="15" dirty="0"/>
              <a:t> </a:t>
            </a:r>
            <a:r>
              <a:rPr sz="2400" dirty="0"/>
              <a:t>to </a:t>
            </a:r>
            <a:r>
              <a:rPr sz="2400" spc="-5" dirty="0"/>
              <a:t>globally</a:t>
            </a:r>
            <a:r>
              <a:rPr sz="2400" spc="30" dirty="0"/>
              <a:t> </a:t>
            </a:r>
            <a:r>
              <a:rPr sz="2400" spc="-5" dirty="0"/>
              <a:t>refer</a:t>
            </a:r>
            <a:r>
              <a:rPr sz="2400" spc="15" dirty="0"/>
              <a:t> </a:t>
            </a:r>
            <a:r>
              <a:rPr sz="2400" dirty="0"/>
              <a:t>to</a:t>
            </a:r>
            <a:r>
              <a:rPr sz="2400" spc="-10" dirty="0"/>
              <a:t> </a:t>
            </a:r>
            <a:r>
              <a:rPr sz="2400" dirty="0"/>
              <a:t>the</a:t>
            </a:r>
            <a:r>
              <a:rPr sz="2400" spc="-5" dirty="0"/>
              <a:t> </a:t>
            </a:r>
            <a:r>
              <a:rPr sz="2400" dirty="0"/>
              <a:t>same</a:t>
            </a:r>
            <a:r>
              <a:rPr sz="2400" spc="5" dirty="0"/>
              <a:t> </a:t>
            </a:r>
            <a:r>
              <a:rPr sz="2400" dirty="0"/>
              <a:t>item. </a:t>
            </a:r>
            <a:r>
              <a:rPr sz="2400" spc="-650" dirty="0"/>
              <a:t> </a:t>
            </a:r>
            <a:r>
              <a:rPr sz="2400" dirty="0"/>
              <a:t>Once</a:t>
            </a:r>
            <a:r>
              <a:rPr sz="2400" spc="-5" dirty="0"/>
              <a:t> </a:t>
            </a:r>
            <a:r>
              <a:rPr sz="2400" dirty="0"/>
              <a:t>you </a:t>
            </a:r>
            <a:r>
              <a:rPr sz="2400" spc="-5" dirty="0"/>
              <a:t>determine</a:t>
            </a:r>
            <a:r>
              <a:rPr sz="2400" spc="15" dirty="0"/>
              <a:t> </a:t>
            </a:r>
            <a:r>
              <a:rPr sz="2400" dirty="0"/>
              <a:t>they’re the</a:t>
            </a:r>
            <a:r>
              <a:rPr sz="2400" spc="-5" dirty="0"/>
              <a:t> </a:t>
            </a:r>
            <a:r>
              <a:rPr sz="2400" dirty="0"/>
              <a:t>same,</a:t>
            </a:r>
            <a:r>
              <a:rPr sz="2400" spc="-10" dirty="0"/>
              <a:t> </a:t>
            </a:r>
            <a:r>
              <a:rPr sz="2400" dirty="0"/>
              <a:t>you</a:t>
            </a:r>
            <a:r>
              <a:rPr sz="2400" spc="-5" dirty="0"/>
              <a:t> </a:t>
            </a:r>
            <a:r>
              <a:rPr sz="2400" dirty="0"/>
              <a:t>can </a:t>
            </a:r>
            <a:r>
              <a:rPr sz="2400" spc="-5" dirty="0"/>
              <a:t>join</a:t>
            </a:r>
            <a:r>
              <a:rPr sz="2400" spc="5" dirty="0"/>
              <a:t> </a:t>
            </a:r>
            <a:r>
              <a:rPr sz="2400" dirty="0"/>
              <a:t>the </a:t>
            </a:r>
            <a:r>
              <a:rPr sz="2400" spc="-5" dirty="0"/>
              <a:t>graphs</a:t>
            </a:r>
            <a:r>
              <a:rPr sz="2400" spc="15" dirty="0"/>
              <a:t> </a:t>
            </a:r>
            <a:r>
              <a:rPr sz="2400" spc="-20" dirty="0"/>
              <a:t>together.</a:t>
            </a:r>
            <a:endParaRPr sz="24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2053" y="4707853"/>
            <a:ext cx="2687540" cy="5085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62315" y="4418646"/>
            <a:ext cx="2767176" cy="11166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75592" y="4720963"/>
            <a:ext cx="4503182" cy="50428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3A3C9C6-C9E8-4C22-8E58-8088D57CADB4}"/>
                  </a:ext>
                </a:extLst>
              </p14:cNvPr>
              <p14:cNvContentPartPr/>
              <p14:nvPr/>
            </p14:nvContentPartPr>
            <p14:xfrm>
              <a:off x="539640" y="4248000"/>
              <a:ext cx="5804280" cy="1404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3A3C9C6-C9E8-4C22-8E58-8088D57CAD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0280" y="4238640"/>
                <a:ext cx="5823000" cy="1422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52355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Use</a:t>
            </a:r>
            <a:r>
              <a:rPr spc="-15" dirty="0"/>
              <a:t> </a:t>
            </a:r>
            <a:r>
              <a:rPr spc="-5" dirty="0"/>
              <a:t>cases</a:t>
            </a:r>
            <a:r>
              <a:rPr spc="-25" dirty="0"/>
              <a:t> </a:t>
            </a:r>
            <a:r>
              <a:rPr spc="-5" dirty="0"/>
              <a:t>for</a:t>
            </a:r>
            <a:r>
              <a:rPr spc="-10" dirty="0"/>
              <a:t> </a:t>
            </a:r>
            <a:r>
              <a:rPr spc="-5" dirty="0"/>
              <a:t>graph</a:t>
            </a:r>
            <a:r>
              <a:rPr spc="-10" dirty="0"/>
              <a:t> </a:t>
            </a:r>
            <a:r>
              <a:rPr spc="-5" dirty="0"/>
              <a:t>stores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87626"/>
            <a:ext cx="10229850" cy="425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1775">
              <a:lnSpc>
                <a:spcPct val="110000"/>
              </a:lnSpc>
              <a:spcBef>
                <a:spcPts val="100"/>
              </a:spcBef>
            </a:pP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Some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situations</a:t>
            </a:r>
            <a:r>
              <a:rPr sz="2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where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 a graph</a:t>
            </a:r>
            <a:r>
              <a:rPr sz="22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store can be used</a:t>
            </a:r>
            <a:r>
              <a:rPr sz="22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effectively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solve a particular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business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problem.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 MT"/>
              <a:cs typeface="Arial MT"/>
            </a:endParaRPr>
          </a:p>
          <a:p>
            <a:pPr marL="734695" marR="5080" indent="-367030">
              <a:lnSpc>
                <a:spcPct val="110000"/>
              </a:lnSpc>
              <a:buChar char="•"/>
              <a:tabLst>
                <a:tab pos="734695" algn="l"/>
                <a:tab pos="735330" algn="l"/>
              </a:tabLst>
            </a:pP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Link analysis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 </a:t>
            </a:r>
            <a:r>
              <a:rPr sz="2200" spc="-5" dirty="0">
                <a:latin typeface="Arial MT"/>
                <a:cs typeface="Arial MT"/>
              </a:rPr>
              <a:t>when</a:t>
            </a:r>
            <a:r>
              <a:rPr sz="2200" dirty="0">
                <a:latin typeface="Arial MT"/>
                <a:cs typeface="Arial MT"/>
              </a:rPr>
              <a:t> you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want</a:t>
            </a:r>
            <a:r>
              <a:rPr sz="2200" dirty="0">
                <a:latin typeface="Arial MT"/>
                <a:cs typeface="Arial MT"/>
              </a:rPr>
              <a:t> to </a:t>
            </a:r>
            <a:r>
              <a:rPr sz="2200" spc="-5" dirty="0">
                <a:highlight>
                  <a:srgbClr val="FFFF00"/>
                </a:highlight>
                <a:latin typeface="Arial MT"/>
                <a:cs typeface="Arial MT"/>
              </a:rPr>
              <a:t>perform</a:t>
            </a:r>
            <a:r>
              <a:rPr sz="2200" spc="2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dirty="0">
                <a:highlight>
                  <a:srgbClr val="FFFF00"/>
                </a:highlight>
                <a:latin typeface="Arial MT"/>
                <a:cs typeface="Arial MT"/>
              </a:rPr>
              <a:t>searches</a:t>
            </a:r>
            <a:r>
              <a:rPr sz="22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 </a:t>
            </a:r>
            <a:r>
              <a:rPr sz="2200" dirty="0">
                <a:highlight>
                  <a:srgbClr val="FFFF00"/>
                </a:highlight>
                <a:latin typeface="Arial MT"/>
                <a:cs typeface="Arial MT"/>
              </a:rPr>
              <a:t>look</a:t>
            </a:r>
            <a:r>
              <a:rPr sz="2200" spc="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dirty="0">
                <a:highlight>
                  <a:srgbClr val="FFFF00"/>
                </a:highlight>
                <a:latin typeface="Arial MT"/>
                <a:cs typeface="Arial MT"/>
              </a:rPr>
              <a:t>for </a:t>
            </a:r>
            <a:r>
              <a:rPr sz="2200" spc="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dirty="0">
                <a:highlight>
                  <a:srgbClr val="FFFF00"/>
                </a:highlight>
                <a:latin typeface="Arial MT"/>
                <a:cs typeface="Arial MT"/>
              </a:rPr>
              <a:t>patterns and</a:t>
            </a:r>
            <a:r>
              <a:rPr sz="2200" spc="-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dirty="0">
                <a:highlight>
                  <a:srgbClr val="FFFF00"/>
                </a:highlight>
                <a:latin typeface="Arial MT"/>
                <a:cs typeface="Arial MT"/>
              </a:rPr>
              <a:t>relationships</a:t>
            </a:r>
            <a:r>
              <a:rPr sz="2200" spc="-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situations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such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social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networking,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telephone,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 email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records.</a:t>
            </a: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Font typeface="Arial MT"/>
              <a:buChar char="•"/>
            </a:pPr>
            <a:endParaRPr sz="2050" dirty="0">
              <a:latin typeface="Arial MT"/>
              <a:cs typeface="Arial MT"/>
            </a:endParaRPr>
          </a:p>
          <a:p>
            <a:pPr marL="734695" marR="592455" indent="-367030">
              <a:lnSpc>
                <a:spcPct val="110000"/>
              </a:lnSpc>
              <a:buChar char="•"/>
              <a:tabLst>
                <a:tab pos="734695" algn="l"/>
                <a:tab pos="735330" algn="l"/>
              </a:tabLst>
            </a:pP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Rules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inference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you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want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run queries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complex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structures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such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class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libraries,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taxonomies,</a:t>
            </a:r>
            <a:r>
              <a:rPr sz="2200" dirty="0">
                <a:latin typeface="Arial MT"/>
                <a:cs typeface="Arial MT"/>
              </a:rPr>
              <a:t> and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rule-based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systems.</a:t>
            </a: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Font typeface="Arial MT"/>
              <a:buChar char="•"/>
            </a:pPr>
            <a:endParaRPr sz="2050" dirty="0">
              <a:latin typeface="Arial MT"/>
              <a:cs typeface="Arial MT"/>
            </a:endParaRPr>
          </a:p>
          <a:p>
            <a:pPr marL="734695" marR="204470" indent="-367030">
              <a:lnSpc>
                <a:spcPct val="110000"/>
              </a:lnSpc>
              <a:buChar char="•"/>
              <a:tabLst>
                <a:tab pos="734695" algn="l"/>
                <a:tab pos="735330" algn="l"/>
              </a:tabLst>
            </a:pP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Integrating linked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2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large amounts of open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linked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 to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real-time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integration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 build mashups without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storing </a:t>
            </a:r>
            <a:r>
              <a:rPr sz="2200" spc="-5" dirty="0">
                <a:latin typeface="Arial MT"/>
                <a:cs typeface="Arial MT"/>
              </a:rPr>
              <a:t>data.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26276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Link</a:t>
            </a:r>
            <a:r>
              <a:rPr spc="-185" dirty="0"/>
              <a:t> </a:t>
            </a:r>
            <a:r>
              <a:rPr spc="-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5130"/>
            <a:ext cx="4549775" cy="296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244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Sometimes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best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way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to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solve </a:t>
            </a:r>
            <a:r>
              <a:rPr sz="2400" spc="-6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 business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problem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to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traverse </a:t>
            </a:r>
            <a:r>
              <a:rPr sz="2400" spc="-6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graph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data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good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example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 </a:t>
            </a:r>
            <a:r>
              <a:rPr sz="2400" spc="-5" dirty="0">
                <a:latin typeface="Arial MT"/>
                <a:cs typeface="Arial MT"/>
              </a:rPr>
              <a:t>social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networking.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20000"/>
              </a:lnSpc>
              <a:spcBef>
                <a:spcPts val="24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social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network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graph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generated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LinkedIn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Map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3278" y="1573516"/>
            <a:ext cx="5559955" cy="43729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26276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Link</a:t>
            </a:r>
            <a:r>
              <a:rPr spc="-185" dirty="0"/>
              <a:t> </a:t>
            </a:r>
            <a:r>
              <a:rPr spc="-5" dirty="0"/>
              <a:t>Analysis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2460">
              <a:lnSpc>
                <a:spcPct val="110000"/>
              </a:lnSpc>
              <a:spcBef>
                <a:spcPts val="100"/>
              </a:spcBef>
            </a:pPr>
            <a:r>
              <a:rPr sz="2400" spc="-5" dirty="0"/>
              <a:t>Graph</a:t>
            </a:r>
            <a:r>
              <a:rPr sz="2400" spc="15" dirty="0"/>
              <a:t> </a:t>
            </a:r>
            <a:r>
              <a:rPr sz="2400" spc="-5" dirty="0"/>
              <a:t>stores</a:t>
            </a:r>
            <a:r>
              <a:rPr sz="2400" spc="10" dirty="0"/>
              <a:t> </a:t>
            </a:r>
            <a:r>
              <a:rPr sz="2400" spc="-5" dirty="0"/>
              <a:t>are</a:t>
            </a:r>
            <a:r>
              <a:rPr sz="2400" spc="25" dirty="0"/>
              <a:t> </a:t>
            </a:r>
            <a:r>
              <a:rPr sz="2400" spc="-5" dirty="0">
                <a:solidFill>
                  <a:srgbClr val="FF0000"/>
                </a:solidFill>
              </a:rPr>
              <a:t>also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useful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for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linking</a:t>
            </a:r>
            <a:r>
              <a:rPr sz="2400" spc="2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data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together</a:t>
            </a:r>
            <a:r>
              <a:rPr sz="2400" spc="2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and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searching</a:t>
            </a:r>
            <a:r>
              <a:rPr sz="2400" spc="30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for </a:t>
            </a:r>
            <a:r>
              <a:rPr sz="2400" spc="-65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patterns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spc="-5" dirty="0"/>
              <a:t>within</a:t>
            </a:r>
            <a:r>
              <a:rPr sz="2400" spc="10" dirty="0"/>
              <a:t> </a:t>
            </a:r>
            <a:r>
              <a:rPr sz="2400" spc="-5" dirty="0"/>
              <a:t>large</a:t>
            </a:r>
            <a:r>
              <a:rPr sz="2400" spc="10" dirty="0"/>
              <a:t> </a:t>
            </a:r>
            <a:r>
              <a:rPr sz="2400" spc="-5" dirty="0"/>
              <a:t>collections</a:t>
            </a:r>
            <a:r>
              <a:rPr sz="2400" spc="20" dirty="0"/>
              <a:t> </a:t>
            </a:r>
            <a:r>
              <a:rPr sz="2400" dirty="0"/>
              <a:t>of </a:t>
            </a:r>
            <a:r>
              <a:rPr sz="2400" spc="-5" dirty="0"/>
              <a:t>text documents.</a:t>
            </a:r>
            <a:endParaRPr sz="2400" dirty="0"/>
          </a:p>
          <a:p>
            <a:pPr marL="12700" marR="824230">
              <a:lnSpc>
                <a:spcPct val="110100"/>
              </a:lnSpc>
              <a:spcBef>
                <a:spcPts val="2395"/>
              </a:spcBef>
            </a:pPr>
            <a:r>
              <a:rPr sz="2400" dirty="0">
                <a:solidFill>
                  <a:srgbClr val="FF0000"/>
                </a:solidFill>
              </a:rPr>
              <a:t>Entity</a:t>
            </a:r>
            <a:r>
              <a:rPr sz="2400" spc="-5" dirty="0">
                <a:solidFill>
                  <a:srgbClr val="FF0000"/>
                </a:solidFill>
              </a:rPr>
              <a:t> extraction</a:t>
            </a:r>
            <a:r>
              <a:rPr sz="2400" spc="20" dirty="0">
                <a:solidFill>
                  <a:srgbClr val="FF0000"/>
                </a:solidFill>
              </a:rPr>
              <a:t> </a:t>
            </a:r>
            <a:r>
              <a:rPr sz="2400" dirty="0"/>
              <a:t>is</a:t>
            </a:r>
            <a:r>
              <a:rPr sz="2400" spc="10" dirty="0"/>
              <a:t> </a:t>
            </a:r>
            <a:r>
              <a:rPr sz="2400" spc="-5" dirty="0"/>
              <a:t>the</a:t>
            </a:r>
            <a:r>
              <a:rPr sz="2400" spc="10" dirty="0"/>
              <a:t> </a:t>
            </a:r>
            <a:r>
              <a:rPr sz="2400" spc="-5" dirty="0">
                <a:highlight>
                  <a:srgbClr val="FFFF00"/>
                </a:highlight>
              </a:rPr>
              <a:t>process</a:t>
            </a:r>
            <a:r>
              <a:rPr sz="2400" spc="10" dirty="0">
                <a:highlight>
                  <a:srgbClr val="FFFF00"/>
                </a:highlight>
              </a:rPr>
              <a:t> </a:t>
            </a:r>
            <a:r>
              <a:rPr sz="2400" dirty="0">
                <a:highlight>
                  <a:srgbClr val="FFFF00"/>
                </a:highlight>
              </a:rPr>
              <a:t>of</a:t>
            </a:r>
            <a:r>
              <a:rPr sz="2400" spc="5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identifying</a:t>
            </a:r>
            <a:r>
              <a:rPr sz="2400" spc="25" dirty="0">
                <a:highlight>
                  <a:srgbClr val="FFFF00"/>
                </a:highlight>
              </a:rPr>
              <a:t> </a:t>
            </a:r>
            <a:r>
              <a:rPr sz="2400" dirty="0">
                <a:highlight>
                  <a:srgbClr val="FFFF00"/>
                </a:highlight>
              </a:rPr>
              <a:t>the </a:t>
            </a:r>
            <a:r>
              <a:rPr sz="2400" spc="-5" dirty="0">
                <a:highlight>
                  <a:srgbClr val="FFFF00"/>
                </a:highlight>
              </a:rPr>
              <a:t>most</a:t>
            </a:r>
            <a:r>
              <a:rPr sz="2400" spc="10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important</a:t>
            </a:r>
            <a:r>
              <a:rPr sz="2400" spc="20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items </a:t>
            </a:r>
            <a:r>
              <a:rPr sz="2400" spc="-650" dirty="0">
                <a:highlight>
                  <a:srgbClr val="FFFF00"/>
                </a:highlight>
              </a:rPr>
              <a:t> </a:t>
            </a:r>
            <a:r>
              <a:rPr sz="2400" spc="-5" dirty="0"/>
              <a:t>(entities)</a:t>
            </a:r>
            <a:r>
              <a:rPr sz="2400" spc="5" dirty="0"/>
              <a:t> </a:t>
            </a:r>
            <a:r>
              <a:rPr sz="2400" spc="-5" dirty="0"/>
              <a:t>in</a:t>
            </a:r>
            <a:r>
              <a:rPr sz="2400" dirty="0"/>
              <a:t> </a:t>
            </a:r>
            <a:r>
              <a:rPr sz="2400" spc="-5" dirty="0"/>
              <a:t>a</a:t>
            </a:r>
            <a:r>
              <a:rPr sz="2400" dirty="0"/>
              <a:t> </a:t>
            </a:r>
            <a:r>
              <a:rPr sz="2400" spc="-5" dirty="0"/>
              <a:t>document.</a:t>
            </a:r>
            <a:endParaRPr sz="2400" dirty="0"/>
          </a:p>
          <a:p>
            <a:pPr marL="12700" marR="5080">
              <a:lnSpc>
                <a:spcPct val="110000"/>
              </a:lnSpc>
              <a:spcBef>
                <a:spcPts val="2400"/>
              </a:spcBef>
            </a:pPr>
            <a:r>
              <a:rPr sz="2400" spc="-5" dirty="0"/>
              <a:t>Entities</a:t>
            </a:r>
            <a:r>
              <a:rPr sz="2400" spc="10" dirty="0"/>
              <a:t> </a:t>
            </a:r>
            <a:r>
              <a:rPr sz="2400" spc="-5" dirty="0">
                <a:solidFill>
                  <a:srgbClr val="FF0000"/>
                </a:solidFill>
              </a:rPr>
              <a:t>are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usually</a:t>
            </a:r>
            <a:r>
              <a:rPr sz="2400" spc="2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the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nouns</a:t>
            </a:r>
            <a:r>
              <a:rPr sz="2400" spc="2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in</a:t>
            </a:r>
            <a:r>
              <a:rPr sz="2400" spc="2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a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document</a:t>
            </a:r>
            <a:r>
              <a:rPr sz="2400" spc="2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like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people</a:t>
            </a:r>
            <a:r>
              <a:rPr sz="2400" spc="-5" dirty="0"/>
              <a:t>,</a:t>
            </a:r>
            <a:r>
              <a:rPr sz="2400" spc="25" dirty="0"/>
              <a:t> </a:t>
            </a:r>
            <a:r>
              <a:rPr sz="2400" spc="-5" dirty="0"/>
              <a:t>dates,</a:t>
            </a:r>
            <a:r>
              <a:rPr sz="2400" spc="15" dirty="0"/>
              <a:t> </a:t>
            </a:r>
            <a:r>
              <a:rPr sz="2400" spc="-5" dirty="0"/>
              <a:t>places,</a:t>
            </a:r>
            <a:r>
              <a:rPr sz="2400" spc="15" dirty="0"/>
              <a:t> </a:t>
            </a:r>
            <a:r>
              <a:rPr sz="2400" spc="-5" dirty="0"/>
              <a:t>and </a:t>
            </a:r>
            <a:r>
              <a:rPr sz="2400" spc="-655" dirty="0"/>
              <a:t> </a:t>
            </a:r>
            <a:r>
              <a:rPr sz="2400" spc="-5" dirty="0"/>
              <a:t>products.</a:t>
            </a:r>
            <a:endParaRPr sz="2400" dirty="0"/>
          </a:p>
          <a:p>
            <a:pPr marL="12700" marR="1209675">
              <a:lnSpc>
                <a:spcPct val="110000"/>
              </a:lnSpc>
              <a:spcBef>
                <a:spcPts val="2400"/>
              </a:spcBef>
            </a:pPr>
            <a:r>
              <a:rPr sz="2400" spc="-5" dirty="0">
                <a:solidFill>
                  <a:srgbClr val="FF0000"/>
                </a:solidFill>
              </a:rPr>
              <a:t>Once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the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key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entities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have</a:t>
            </a:r>
            <a:r>
              <a:rPr sz="2400" spc="1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been</a:t>
            </a:r>
            <a:r>
              <a:rPr sz="2400" spc="2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identified,</a:t>
            </a:r>
            <a:r>
              <a:rPr sz="2400" spc="2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they’re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used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to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perform </a:t>
            </a:r>
            <a:r>
              <a:rPr sz="2400" spc="-65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advanced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search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functions</a:t>
            </a:r>
            <a:r>
              <a:rPr sz="2400" spc="-5" dirty="0"/>
              <a:t>.</a:t>
            </a:r>
            <a:endParaRPr sz="24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26276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Link</a:t>
            </a:r>
            <a:r>
              <a:rPr spc="-185" dirty="0"/>
              <a:t> </a:t>
            </a:r>
            <a:r>
              <a:rPr spc="-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9244"/>
            <a:ext cx="10056495" cy="423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This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entity extraction process </a:t>
            </a:r>
            <a:r>
              <a:rPr sz="2200" dirty="0">
                <a:latin typeface="Arial MT"/>
                <a:cs typeface="Arial MT"/>
              </a:rPr>
              <a:t>(a type of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natural language processing or NLP</a:t>
            </a:r>
            <a:r>
              <a:rPr sz="2200" dirty="0">
                <a:latin typeface="Arial MT"/>
                <a:cs typeface="Arial MT"/>
              </a:rPr>
              <a:t>) can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 combined with other tools to extract simple facts or assertions made within a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document.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12700" marR="158750">
              <a:lnSpc>
                <a:spcPct val="120000"/>
              </a:lnSpc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For example</a:t>
            </a:r>
            <a:r>
              <a:rPr sz="2200" dirty="0">
                <a:latin typeface="Arial MT"/>
                <a:cs typeface="Arial MT"/>
              </a:rPr>
              <a:t>, the sentence “John Adams </a:t>
            </a:r>
            <a:r>
              <a:rPr sz="2200" spc="-5" dirty="0">
                <a:latin typeface="Arial MT"/>
                <a:cs typeface="Arial MT"/>
              </a:rPr>
              <a:t>was born on </a:t>
            </a:r>
            <a:r>
              <a:rPr sz="2200" dirty="0">
                <a:latin typeface="Arial MT"/>
                <a:cs typeface="Arial MT"/>
              </a:rPr>
              <a:t>October </a:t>
            </a:r>
            <a:r>
              <a:rPr sz="2200" spc="-5" dirty="0">
                <a:latin typeface="Arial MT"/>
                <a:cs typeface="Arial MT"/>
              </a:rPr>
              <a:t>19, 1735” </a:t>
            </a:r>
            <a:r>
              <a:rPr sz="2200" dirty="0">
                <a:latin typeface="Arial MT"/>
                <a:cs typeface="Arial MT"/>
              </a:rPr>
              <a:t>can </a:t>
            </a:r>
            <a:r>
              <a:rPr sz="2200" spc="-5" dirty="0">
                <a:latin typeface="Arial MT"/>
                <a:cs typeface="Arial MT"/>
              </a:rPr>
              <a:t>be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broken into the following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assertions: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Arial MT"/>
              <a:cs typeface="Arial MT"/>
            </a:endParaRPr>
          </a:p>
          <a:p>
            <a:pPr marL="734695" indent="-367030">
              <a:lnSpc>
                <a:spcPct val="100000"/>
              </a:lnSpc>
              <a:buChar char="•"/>
              <a:tabLst>
                <a:tab pos="734695" algn="l"/>
                <a:tab pos="735330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person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record was found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 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John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Adams and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 a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subject.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734695" indent="-367030">
              <a:lnSpc>
                <a:spcPct val="100000"/>
              </a:lnSpc>
              <a:buChar char="•"/>
              <a:tabLst>
                <a:tab pos="734695" algn="l"/>
                <a:tab pos="735330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born-on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relationship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links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subject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object.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734695" indent="-367030">
              <a:lnSpc>
                <a:spcPct val="100000"/>
              </a:lnSpc>
              <a:buChar char="•"/>
              <a:tabLst>
                <a:tab pos="734695" algn="l"/>
                <a:tab pos="735330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date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object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record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was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found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that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has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value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October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19,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1735.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9E5320-C44D-4B2B-8BE7-E87935463A0D}"/>
                  </a:ext>
                </a:extLst>
              </p14:cNvPr>
              <p14:cNvContentPartPr/>
              <p14:nvPr/>
            </p14:nvContentPartPr>
            <p14:xfrm>
              <a:off x="2387520" y="4699080"/>
              <a:ext cx="8242920" cy="1302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9E5320-C44D-4B2B-8BE7-E87935463A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8160" y="4689720"/>
                <a:ext cx="8261640" cy="1320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39954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Rules,</a:t>
            </a:r>
            <a:r>
              <a:rPr spc="-30" dirty="0"/>
              <a:t> </a:t>
            </a:r>
            <a:r>
              <a:rPr spc="-5" dirty="0"/>
              <a:t>and</a:t>
            </a:r>
            <a:r>
              <a:rPr spc="-25" dirty="0"/>
              <a:t> </a:t>
            </a:r>
            <a:r>
              <a:rPr spc="-5" dirty="0"/>
              <a:t>Inference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640">
              <a:lnSpc>
                <a:spcPct val="120000"/>
              </a:lnSpc>
              <a:spcBef>
                <a:spcPts val="100"/>
              </a:spcBef>
            </a:pPr>
            <a:r>
              <a:rPr sz="2400" spc="-5" dirty="0"/>
              <a:t>Rules</a:t>
            </a:r>
            <a:r>
              <a:rPr sz="2400" spc="10" dirty="0"/>
              <a:t> </a:t>
            </a:r>
            <a:r>
              <a:rPr sz="2400" spc="-5" dirty="0"/>
              <a:t>are</a:t>
            </a:r>
            <a:r>
              <a:rPr sz="2400" spc="10" dirty="0"/>
              <a:t> </a:t>
            </a:r>
            <a:r>
              <a:rPr sz="2400" spc="-5" dirty="0"/>
              <a:t>used</a:t>
            </a:r>
            <a:r>
              <a:rPr sz="2400" spc="15" dirty="0"/>
              <a:t> </a:t>
            </a:r>
            <a:r>
              <a:rPr sz="2400" dirty="0">
                <a:solidFill>
                  <a:srgbClr val="FF0000"/>
                </a:solidFill>
              </a:rPr>
              <a:t>to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define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abstract</a:t>
            </a:r>
            <a:r>
              <a:rPr sz="2400" spc="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rules</a:t>
            </a:r>
            <a:r>
              <a:rPr sz="2400" spc="25" dirty="0">
                <a:solidFill>
                  <a:srgbClr val="FF0000"/>
                </a:solidFill>
              </a:rPr>
              <a:t> </a:t>
            </a:r>
            <a:r>
              <a:rPr sz="2400" dirty="0"/>
              <a:t>that</a:t>
            </a:r>
            <a:r>
              <a:rPr sz="2400" spc="-5" dirty="0"/>
              <a:t> relate</a:t>
            </a:r>
            <a:r>
              <a:rPr sz="2400" spc="10" dirty="0"/>
              <a:t> </a:t>
            </a:r>
            <a:r>
              <a:rPr sz="2400" dirty="0"/>
              <a:t>to</a:t>
            </a:r>
            <a:r>
              <a:rPr sz="2400" spc="5" dirty="0"/>
              <a:t> </a:t>
            </a:r>
            <a:r>
              <a:rPr sz="2400" spc="-10" dirty="0"/>
              <a:t>an</a:t>
            </a:r>
            <a:r>
              <a:rPr sz="2400" spc="10" dirty="0"/>
              <a:t> </a:t>
            </a:r>
            <a:r>
              <a:rPr sz="2400" spc="-5" dirty="0"/>
              <a:t>understanding</a:t>
            </a:r>
            <a:r>
              <a:rPr sz="2400" spc="25" dirty="0"/>
              <a:t> </a:t>
            </a:r>
            <a:r>
              <a:rPr sz="2400" dirty="0"/>
              <a:t>of </a:t>
            </a:r>
            <a:r>
              <a:rPr sz="2400" spc="5" dirty="0"/>
              <a:t> </a:t>
            </a:r>
            <a:r>
              <a:rPr sz="2400" spc="-5" dirty="0"/>
              <a:t>objects</a:t>
            </a:r>
            <a:r>
              <a:rPr sz="2400" spc="10" dirty="0"/>
              <a:t> </a:t>
            </a:r>
            <a:r>
              <a:rPr sz="2400" spc="-5" dirty="0"/>
              <a:t>in</a:t>
            </a:r>
            <a:r>
              <a:rPr sz="2400" spc="15" dirty="0"/>
              <a:t> </a:t>
            </a:r>
            <a:r>
              <a:rPr sz="2400" spc="-5" dirty="0"/>
              <a:t>a</a:t>
            </a:r>
            <a:r>
              <a:rPr sz="2400" spc="10" dirty="0"/>
              <a:t> </a:t>
            </a:r>
            <a:r>
              <a:rPr sz="2400" spc="-5" dirty="0"/>
              <a:t>system,</a:t>
            </a:r>
            <a:r>
              <a:rPr sz="2400" spc="10" dirty="0"/>
              <a:t> </a:t>
            </a:r>
            <a:r>
              <a:rPr sz="2400" spc="-5" dirty="0"/>
              <a:t>and</a:t>
            </a:r>
            <a:r>
              <a:rPr sz="2400" spc="20" dirty="0"/>
              <a:t> </a:t>
            </a:r>
            <a:r>
              <a:rPr sz="2400" spc="-5" dirty="0"/>
              <a:t>how</a:t>
            </a:r>
            <a:r>
              <a:rPr sz="2400" spc="15" dirty="0"/>
              <a:t> </a:t>
            </a:r>
            <a:r>
              <a:rPr sz="2400" dirty="0"/>
              <a:t>the</a:t>
            </a:r>
            <a:r>
              <a:rPr sz="2400" spc="10" dirty="0"/>
              <a:t> </a:t>
            </a:r>
            <a:r>
              <a:rPr sz="2400" spc="-5" dirty="0"/>
              <a:t>object</a:t>
            </a:r>
            <a:r>
              <a:rPr sz="2400" spc="10" dirty="0"/>
              <a:t> </a:t>
            </a:r>
            <a:r>
              <a:rPr sz="2400" spc="-5" dirty="0"/>
              <a:t>properties</a:t>
            </a:r>
            <a:r>
              <a:rPr sz="2400" spc="40" dirty="0"/>
              <a:t> </a:t>
            </a:r>
            <a:r>
              <a:rPr sz="2400" spc="-5" dirty="0"/>
              <a:t>allow</a:t>
            </a:r>
            <a:r>
              <a:rPr sz="2400" spc="20" dirty="0"/>
              <a:t> </a:t>
            </a:r>
            <a:r>
              <a:rPr sz="2400" spc="-5" dirty="0"/>
              <a:t>you</a:t>
            </a:r>
            <a:r>
              <a:rPr sz="2400" spc="15" dirty="0"/>
              <a:t> </a:t>
            </a:r>
            <a:r>
              <a:rPr sz="2400" dirty="0"/>
              <a:t>to </a:t>
            </a:r>
            <a:r>
              <a:rPr sz="2400" spc="-5" dirty="0">
                <a:highlight>
                  <a:srgbClr val="FFFF00"/>
                </a:highlight>
              </a:rPr>
              <a:t>gain</a:t>
            </a:r>
            <a:r>
              <a:rPr sz="2400" spc="20" dirty="0">
                <a:highlight>
                  <a:srgbClr val="FFFF00"/>
                </a:highlight>
              </a:rPr>
              <a:t> </a:t>
            </a:r>
            <a:r>
              <a:rPr sz="2400" spc="-5" dirty="0">
                <a:highlight>
                  <a:srgbClr val="FFFF00"/>
                </a:highlight>
              </a:rPr>
              <a:t>insight </a:t>
            </a:r>
            <a:r>
              <a:rPr sz="2400" spc="-655" dirty="0">
                <a:highlight>
                  <a:srgbClr val="FFFF00"/>
                </a:highlight>
              </a:rPr>
              <a:t> </a:t>
            </a:r>
            <a:r>
              <a:rPr sz="2400" spc="-5" dirty="0"/>
              <a:t>into</a:t>
            </a:r>
            <a:r>
              <a:rPr sz="2400" dirty="0"/>
              <a:t> </a:t>
            </a:r>
            <a:r>
              <a:rPr sz="2400" spc="-5" dirty="0"/>
              <a:t>and</a:t>
            </a:r>
            <a:r>
              <a:rPr sz="2400" dirty="0"/>
              <a:t> </a:t>
            </a:r>
            <a:r>
              <a:rPr sz="2400" spc="-5" dirty="0"/>
              <a:t>better</a:t>
            </a:r>
            <a:r>
              <a:rPr sz="2400" spc="5" dirty="0"/>
              <a:t> </a:t>
            </a:r>
            <a:r>
              <a:rPr sz="2400" spc="-5" dirty="0"/>
              <a:t>use</a:t>
            </a:r>
            <a:r>
              <a:rPr sz="2400" dirty="0"/>
              <a:t> </a:t>
            </a:r>
            <a:r>
              <a:rPr sz="2400" spc="-5" dirty="0"/>
              <a:t>large</a:t>
            </a:r>
            <a:r>
              <a:rPr sz="2400" spc="5" dirty="0"/>
              <a:t> </a:t>
            </a:r>
            <a:r>
              <a:rPr sz="2400" spc="-5" dirty="0"/>
              <a:t>datasets.</a:t>
            </a:r>
            <a:endParaRPr sz="2400" dirty="0"/>
          </a:p>
          <a:p>
            <a:pPr marL="12700" marR="295910">
              <a:lnSpc>
                <a:spcPct val="120000"/>
              </a:lnSpc>
              <a:spcBef>
                <a:spcPts val="2400"/>
              </a:spcBef>
            </a:pPr>
            <a:r>
              <a:rPr sz="2400" dirty="0">
                <a:solidFill>
                  <a:srgbClr val="FF0000"/>
                </a:solidFill>
              </a:rPr>
              <a:t>A </a:t>
            </a:r>
            <a:r>
              <a:rPr sz="2400" spc="-5" dirty="0">
                <a:solidFill>
                  <a:srgbClr val="FF0000"/>
                </a:solidFill>
              </a:rPr>
              <a:t>primary use </a:t>
            </a:r>
            <a:r>
              <a:rPr sz="2400" dirty="0">
                <a:solidFill>
                  <a:srgbClr val="FF0000"/>
                </a:solidFill>
              </a:rPr>
              <a:t>for RDF </a:t>
            </a:r>
            <a:r>
              <a:rPr sz="2400" spc="-5" dirty="0">
                <a:solidFill>
                  <a:srgbClr val="FF0000"/>
                </a:solidFill>
              </a:rPr>
              <a:t>is </a:t>
            </a:r>
            <a:r>
              <a:rPr sz="2400" dirty="0">
                <a:solidFill>
                  <a:srgbClr val="FF0000"/>
                </a:solidFill>
              </a:rPr>
              <a:t>to store </a:t>
            </a:r>
            <a:r>
              <a:rPr sz="2400" spc="-5" dirty="0">
                <a:solidFill>
                  <a:srgbClr val="FF0000"/>
                </a:solidFill>
              </a:rPr>
              <a:t>logic and rules</a:t>
            </a:r>
            <a:r>
              <a:rPr sz="2400" spc="-5" dirty="0"/>
              <a:t>. </a:t>
            </a:r>
            <a:r>
              <a:rPr sz="2400" dirty="0"/>
              <a:t>Once you’ve set </a:t>
            </a:r>
            <a:r>
              <a:rPr sz="2400" spc="-5" dirty="0"/>
              <a:t>these </a:t>
            </a:r>
            <a:r>
              <a:rPr sz="2400" dirty="0"/>
              <a:t> </a:t>
            </a:r>
            <a:r>
              <a:rPr sz="2400" spc="-5" dirty="0"/>
              <a:t>rules</a:t>
            </a:r>
            <a:r>
              <a:rPr sz="2400" spc="5" dirty="0"/>
              <a:t> </a:t>
            </a:r>
            <a:r>
              <a:rPr sz="2400" dirty="0"/>
              <a:t>up,</a:t>
            </a:r>
            <a:r>
              <a:rPr sz="2400" spc="10" dirty="0"/>
              <a:t> </a:t>
            </a:r>
            <a:r>
              <a:rPr sz="2400" spc="-5" dirty="0"/>
              <a:t>you</a:t>
            </a:r>
            <a:r>
              <a:rPr sz="2400" spc="10" dirty="0"/>
              <a:t> </a:t>
            </a:r>
            <a:r>
              <a:rPr sz="2400" spc="-5" dirty="0"/>
              <a:t>can</a:t>
            </a:r>
            <a:r>
              <a:rPr sz="2400" spc="5" dirty="0"/>
              <a:t> </a:t>
            </a:r>
            <a:r>
              <a:rPr sz="2400" spc="-5" dirty="0"/>
              <a:t>use</a:t>
            </a:r>
            <a:r>
              <a:rPr sz="2400" spc="20" dirty="0"/>
              <a:t> </a:t>
            </a:r>
            <a:r>
              <a:rPr sz="2400" spc="-5" dirty="0"/>
              <a:t>an</a:t>
            </a:r>
            <a:r>
              <a:rPr sz="2400" spc="10" dirty="0"/>
              <a:t> </a:t>
            </a:r>
            <a:r>
              <a:rPr sz="2400" spc="-5" dirty="0"/>
              <a:t>inference</a:t>
            </a:r>
            <a:r>
              <a:rPr sz="2400" spc="25" dirty="0"/>
              <a:t> </a:t>
            </a:r>
            <a:r>
              <a:rPr sz="2400" spc="-5" dirty="0"/>
              <a:t>or</a:t>
            </a:r>
            <a:r>
              <a:rPr sz="2400" spc="5" dirty="0"/>
              <a:t> </a:t>
            </a:r>
            <a:r>
              <a:rPr sz="2400" spc="-5" dirty="0"/>
              <a:t>rules</a:t>
            </a:r>
            <a:r>
              <a:rPr sz="2400" spc="15" dirty="0"/>
              <a:t> </a:t>
            </a:r>
            <a:r>
              <a:rPr sz="2400" spc="-5" dirty="0"/>
              <a:t>engine</a:t>
            </a:r>
            <a:r>
              <a:rPr sz="2400" spc="30" dirty="0"/>
              <a:t> </a:t>
            </a:r>
            <a:r>
              <a:rPr sz="2400" dirty="0"/>
              <a:t>to</a:t>
            </a:r>
            <a:r>
              <a:rPr sz="2400" spc="-5" dirty="0"/>
              <a:t> discover</a:t>
            </a:r>
            <a:r>
              <a:rPr sz="2400" spc="10" dirty="0"/>
              <a:t> </a:t>
            </a:r>
            <a:r>
              <a:rPr sz="2400" spc="-5" dirty="0"/>
              <a:t>other</a:t>
            </a:r>
            <a:r>
              <a:rPr sz="2400" spc="15" dirty="0"/>
              <a:t> </a:t>
            </a:r>
            <a:r>
              <a:rPr sz="2400" dirty="0"/>
              <a:t>facts </a:t>
            </a:r>
            <a:r>
              <a:rPr sz="2400" spc="-650" dirty="0"/>
              <a:t> </a:t>
            </a:r>
            <a:r>
              <a:rPr sz="2400" spc="-5" dirty="0"/>
              <a:t>about</a:t>
            </a:r>
            <a:r>
              <a:rPr sz="2400" spc="10" dirty="0"/>
              <a:t> </a:t>
            </a:r>
            <a:r>
              <a:rPr sz="2400" spc="-5" dirty="0"/>
              <a:t>a</a:t>
            </a:r>
            <a:r>
              <a:rPr sz="2400" dirty="0"/>
              <a:t> </a:t>
            </a:r>
            <a:r>
              <a:rPr sz="2400" spc="-5" dirty="0"/>
              <a:t>system.</a:t>
            </a:r>
            <a:endParaRPr sz="2400" dirty="0"/>
          </a:p>
          <a:p>
            <a:pPr marL="12700" marR="5080">
              <a:lnSpc>
                <a:spcPct val="120000"/>
              </a:lnSpc>
              <a:spcBef>
                <a:spcPts val="2400"/>
              </a:spcBef>
            </a:pPr>
            <a:r>
              <a:rPr sz="2400" spc="-5" dirty="0">
                <a:solidFill>
                  <a:srgbClr val="FF0000"/>
                </a:solidFill>
              </a:rPr>
              <a:t>Example</a:t>
            </a:r>
            <a:r>
              <a:rPr sz="2400" spc="-5" dirty="0"/>
              <a:t>:</a:t>
            </a:r>
            <a:r>
              <a:rPr sz="2400" spc="5" dirty="0"/>
              <a:t> </a:t>
            </a:r>
            <a:r>
              <a:rPr sz="2400" spc="-5" dirty="0"/>
              <a:t>going</a:t>
            </a:r>
            <a:r>
              <a:rPr sz="2400" spc="15" dirty="0"/>
              <a:t> </a:t>
            </a:r>
            <a:r>
              <a:rPr sz="2400" spc="-5" dirty="0"/>
              <a:t>out</a:t>
            </a:r>
            <a:r>
              <a:rPr sz="2400" dirty="0"/>
              <a:t> to</a:t>
            </a:r>
            <a:r>
              <a:rPr sz="2400" spc="-10" dirty="0"/>
              <a:t> </a:t>
            </a:r>
            <a:r>
              <a:rPr sz="2400" spc="-5" dirty="0"/>
              <a:t>dinner</a:t>
            </a:r>
            <a:r>
              <a:rPr sz="2400" spc="20" dirty="0"/>
              <a:t> </a:t>
            </a:r>
            <a:r>
              <a:rPr sz="2400" spc="-5" dirty="0"/>
              <a:t>and</a:t>
            </a:r>
            <a:r>
              <a:rPr sz="2400" spc="5" dirty="0"/>
              <a:t> </a:t>
            </a:r>
            <a:r>
              <a:rPr sz="2400" dirty="0"/>
              <a:t>you’re</a:t>
            </a:r>
            <a:r>
              <a:rPr sz="2400" spc="15" dirty="0"/>
              <a:t> </a:t>
            </a:r>
            <a:r>
              <a:rPr sz="2400" spc="-5" dirty="0"/>
              <a:t>considering</a:t>
            </a:r>
            <a:r>
              <a:rPr sz="2400" spc="20" dirty="0"/>
              <a:t> </a:t>
            </a:r>
            <a:r>
              <a:rPr sz="2400" dirty="0"/>
              <a:t>two</a:t>
            </a:r>
            <a:r>
              <a:rPr sz="2400" spc="10" dirty="0"/>
              <a:t> </a:t>
            </a:r>
            <a:r>
              <a:rPr sz="2400" spc="-5" dirty="0"/>
              <a:t>restaurants</a:t>
            </a:r>
            <a:r>
              <a:rPr sz="2400" spc="20" dirty="0"/>
              <a:t> </a:t>
            </a:r>
            <a:r>
              <a:rPr sz="2400" spc="-5" dirty="0"/>
              <a:t>based </a:t>
            </a:r>
            <a:r>
              <a:rPr sz="2400" spc="-655" dirty="0"/>
              <a:t> </a:t>
            </a:r>
            <a:r>
              <a:rPr sz="2400" spc="-5" dirty="0"/>
              <a:t>on </a:t>
            </a:r>
            <a:r>
              <a:rPr sz="2400" dirty="0"/>
              <a:t>the </a:t>
            </a:r>
            <a:r>
              <a:rPr sz="2400" spc="-5" dirty="0"/>
              <a:t>reviews.</a:t>
            </a:r>
            <a:endParaRPr sz="24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398970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Semantic</a:t>
            </a:r>
            <a:r>
              <a:rPr spc="-25" dirty="0"/>
              <a:t> Web </a:t>
            </a:r>
            <a:r>
              <a:rPr spc="-5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86255"/>
            <a:ext cx="5802630" cy="4204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1950">
              <a:lnSpc>
                <a:spcPct val="120000"/>
              </a:lnSpc>
              <a:spcBef>
                <a:spcPts val="100"/>
              </a:spcBef>
            </a:pPr>
            <a:r>
              <a:rPr sz="1850" spc="-5" dirty="0">
                <a:latin typeface="Arial MT"/>
                <a:cs typeface="Arial MT"/>
              </a:rPr>
              <a:t>W3C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has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an entire framework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of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standards for using </a:t>
            </a:r>
            <a:r>
              <a:rPr sz="1850" spc="-50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RDF to solve business problems. This framework is 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frequently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referred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to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as the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Semantic</a:t>
            </a:r>
            <a:r>
              <a:rPr sz="18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15" dirty="0">
                <a:solidFill>
                  <a:srgbClr val="FF0000"/>
                </a:solidFill>
                <a:latin typeface="Arial MT"/>
                <a:cs typeface="Arial MT"/>
              </a:rPr>
              <a:t>Web</a:t>
            </a:r>
            <a:r>
              <a:rPr sz="185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Stack</a:t>
            </a:r>
            <a:r>
              <a:rPr sz="1850" spc="-5" dirty="0">
                <a:latin typeface="Arial MT"/>
                <a:cs typeface="Arial MT"/>
              </a:rPr>
              <a:t>.</a:t>
            </a:r>
            <a:endParaRPr sz="1850" dirty="0">
              <a:latin typeface="Arial MT"/>
              <a:cs typeface="Arial MT"/>
            </a:endParaRPr>
          </a:p>
          <a:p>
            <a:pPr marL="734695" marR="132080" indent="-367030">
              <a:lnSpc>
                <a:spcPct val="120000"/>
              </a:lnSpc>
              <a:spcBef>
                <a:spcPts val="1200"/>
              </a:spcBef>
              <a:buChar char="•"/>
              <a:tabLst>
                <a:tab pos="734695" algn="l"/>
                <a:tab pos="735330" algn="l"/>
              </a:tabLst>
            </a:pPr>
            <a:r>
              <a:rPr sz="1850" spc="-5" dirty="0">
                <a:latin typeface="Arial MT"/>
                <a:cs typeface="Arial MT"/>
              </a:rPr>
              <a:t>A</a:t>
            </a:r>
            <a:r>
              <a:rPr sz="1850" spc="-10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typical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semantic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web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stack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with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common low- </a:t>
            </a:r>
            <a:r>
              <a:rPr sz="1850" spc="-50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level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standards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like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URI,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XML,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and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RDF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at the 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bottom</a:t>
            </a:r>
            <a:r>
              <a:rPr sz="185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of the</a:t>
            </a:r>
            <a:r>
              <a:rPr sz="185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stack</a:t>
            </a:r>
            <a:r>
              <a:rPr sz="1850" spc="-5" dirty="0">
                <a:latin typeface="Arial MT"/>
                <a:cs typeface="Arial MT"/>
              </a:rPr>
              <a:t>.</a:t>
            </a:r>
            <a:endParaRPr sz="1850" dirty="0">
              <a:latin typeface="Arial MT"/>
              <a:cs typeface="Arial MT"/>
            </a:endParaRPr>
          </a:p>
          <a:p>
            <a:pPr marL="734695" marR="5080" indent="-367030">
              <a:lnSpc>
                <a:spcPct val="120000"/>
              </a:lnSpc>
              <a:spcBef>
                <a:spcPts val="1200"/>
              </a:spcBef>
              <a:buChar char="•"/>
              <a:tabLst>
                <a:tab pos="734695" algn="l"/>
                <a:tab pos="735330" algn="l"/>
              </a:tabLst>
            </a:pP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The middle layer </a:t>
            </a:r>
            <a:r>
              <a:rPr sz="1850" spc="-5" dirty="0">
                <a:latin typeface="Arial MT"/>
                <a:cs typeface="Arial MT"/>
              </a:rPr>
              <a:t>includes standards for querying </a:t>
            </a:r>
            <a:r>
              <a:rPr sz="1850" spc="-500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(SPARQL)</a:t>
            </a:r>
            <a:r>
              <a:rPr sz="1850" spc="2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and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standards</a:t>
            </a:r>
            <a:r>
              <a:rPr sz="1850" spc="-3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for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rules (RIF/SWRL).</a:t>
            </a:r>
            <a:endParaRPr sz="1850" dirty="0">
              <a:latin typeface="Arial MT"/>
              <a:cs typeface="Arial MT"/>
            </a:endParaRPr>
          </a:p>
          <a:p>
            <a:pPr marL="734695" marR="82550" indent="-367030">
              <a:lnSpc>
                <a:spcPct val="120000"/>
              </a:lnSpc>
              <a:spcBef>
                <a:spcPts val="1200"/>
              </a:spcBef>
              <a:buChar char="•"/>
              <a:tabLst>
                <a:tab pos="734695" algn="l"/>
                <a:tab pos="735330" algn="l"/>
              </a:tabLst>
            </a:pP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r>
              <a:rPr sz="18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8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top</a:t>
            </a:r>
            <a:r>
              <a:rPr sz="18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8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85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Arial MT"/>
                <a:cs typeface="Arial MT"/>
              </a:rPr>
              <a:t>stack </a:t>
            </a:r>
            <a:r>
              <a:rPr sz="1850" spc="-5" dirty="0">
                <a:latin typeface="Arial MT"/>
                <a:cs typeface="Arial MT"/>
              </a:rPr>
              <a:t>are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user interface</a:t>
            </a:r>
            <a:r>
              <a:rPr sz="1850" spc="-10" dirty="0">
                <a:latin typeface="Arial MT"/>
                <a:cs typeface="Arial MT"/>
              </a:rPr>
              <a:t> and </a:t>
            </a:r>
            <a:r>
              <a:rPr sz="1850" spc="-5" dirty="0">
                <a:latin typeface="Arial MT"/>
                <a:cs typeface="Arial MT"/>
              </a:rPr>
              <a:t> application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layers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above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abstract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layers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of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logic, </a:t>
            </a:r>
            <a:r>
              <a:rPr sz="1850" spc="-50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proof,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and trust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building.</a:t>
            </a:r>
            <a:endParaRPr sz="18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260" y="1687414"/>
            <a:ext cx="4122737" cy="432454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59906"/>
            <a:ext cx="80086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</a:t>
            </a:r>
            <a:r>
              <a:rPr spc="-10" dirty="0"/>
              <a:t> </a:t>
            </a:r>
            <a:r>
              <a:rPr spc="-5" dirty="0"/>
              <a:t>Graphs</a:t>
            </a:r>
            <a:r>
              <a:rPr spc="5" dirty="0"/>
              <a:t> </a:t>
            </a:r>
            <a:r>
              <a:rPr spc="-10" dirty="0"/>
              <a:t>to</a:t>
            </a:r>
            <a:r>
              <a:rPr dirty="0"/>
              <a:t> </a:t>
            </a:r>
            <a:r>
              <a:rPr spc="-5" dirty="0"/>
              <a:t>Process Public</a:t>
            </a:r>
            <a:r>
              <a:rPr spc="-20" dirty="0"/>
              <a:t> </a:t>
            </a:r>
            <a:r>
              <a:rPr spc="-5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2022" y="1219200"/>
            <a:ext cx="10307955" cy="5116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6430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Graph stores are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also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useful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doing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analysis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hasn’t been </a:t>
            </a:r>
            <a:r>
              <a:rPr sz="2400" spc="-6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created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by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your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organization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20100"/>
              </a:lnSpc>
              <a:spcBef>
                <a:spcPts val="2395"/>
              </a:spcBef>
            </a:pPr>
            <a:r>
              <a:rPr sz="2400" spc="-5" dirty="0">
                <a:latin typeface="Arial MT"/>
                <a:cs typeface="Arial MT"/>
              </a:rPr>
              <a:t>Example: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consider,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 need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analysis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different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datasets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created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different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organizations.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" dirty="0">
                <a:latin typeface="Arial MT"/>
                <a:cs typeface="Arial MT"/>
              </a:rPr>
              <a:t> using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tools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referred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Linked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Open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LOD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lang="en-US" sz="2400" spc="-5" dirty="0">
                <a:latin typeface="Arial MT"/>
                <a:cs typeface="Arial MT"/>
              </a:rPr>
              <a:t> (L</a:t>
            </a:r>
            <a:r>
              <a:rPr lang="en-US" sz="2400" dirty="0"/>
              <a:t>inked Data is a </a:t>
            </a:r>
            <a:r>
              <a:rPr lang="en-US" sz="2400" dirty="0">
                <a:solidFill>
                  <a:srgbClr val="FF0000"/>
                </a:solidFill>
              </a:rPr>
              <a:t>set of design principles </a:t>
            </a:r>
            <a:r>
              <a:rPr lang="en-US" sz="2400" dirty="0"/>
              <a:t>for sharing </a:t>
            </a:r>
            <a:r>
              <a:rPr lang="en-US" sz="2400" dirty="0">
                <a:solidFill>
                  <a:srgbClr val="FF0000"/>
                </a:solidFill>
              </a:rPr>
              <a:t>machine-readable interlinked data </a:t>
            </a:r>
            <a:r>
              <a:rPr lang="en-US" sz="2400" dirty="0"/>
              <a:t>on the </a:t>
            </a:r>
            <a:r>
              <a:rPr lang="en-US" sz="2400" dirty="0">
                <a:solidFill>
                  <a:srgbClr val="FF0000"/>
                </a:solidFill>
              </a:rPr>
              <a:t>Web</a:t>
            </a:r>
            <a:r>
              <a:rPr lang="en-US" sz="2400" dirty="0"/>
              <a:t>. When combined with Open Data (data that can be freely used and distributed), it is called Linked Open Data (LOD)</a:t>
            </a:r>
            <a:r>
              <a:rPr lang="en-US"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12700" marR="389255">
              <a:lnSpc>
                <a:spcPct val="120000"/>
              </a:lnSpc>
              <a:spcBef>
                <a:spcPts val="2400"/>
              </a:spcBef>
            </a:pPr>
            <a:r>
              <a:rPr sz="2400" spc="-5" dirty="0">
                <a:latin typeface="Arial MT"/>
                <a:cs typeface="Arial MT"/>
              </a:rPr>
              <a:t>LOD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strategies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important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anyone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research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analysis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publicly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available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datasets.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80086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</a:t>
            </a:r>
            <a:r>
              <a:rPr spc="-10" dirty="0"/>
              <a:t> </a:t>
            </a:r>
            <a:r>
              <a:rPr spc="-5" dirty="0"/>
              <a:t>Graphs</a:t>
            </a:r>
            <a:r>
              <a:rPr spc="5" dirty="0"/>
              <a:t> </a:t>
            </a:r>
            <a:r>
              <a:rPr spc="-10" dirty="0"/>
              <a:t>to</a:t>
            </a:r>
            <a:r>
              <a:rPr dirty="0"/>
              <a:t> </a:t>
            </a:r>
            <a:r>
              <a:rPr spc="-5" dirty="0"/>
              <a:t>Process Public</a:t>
            </a:r>
            <a:r>
              <a:rPr spc="-20" dirty="0"/>
              <a:t> </a:t>
            </a:r>
            <a:r>
              <a:rPr spc="-5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5130"/>
            <a:ext cx="5125720" cy="340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LOD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integration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creates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datasets </a:t>
            </a:r>
            <a:r>
              <a:rPr sz="2400" spc="-6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by combining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information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two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or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more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publicly</a:t>
            </a:r>
            <a:r>
              <a:rPr sz="24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available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datasets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conform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structures </a:t>
            </a:r>
            <a:r>
              <a:rPr sz="2400" dirty="0">
                <a:latin typeface="Arial MT"/>
                <a:cs typeface="Arial MT"/>
              </a:rPr>
              <a:t>such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 </a:t>
            </a:r>
            <a:r>
              <a:rPr sz="2400" dirty="0">
                <a:latin typeface="Arial MT"/>
                <a:cs typeface="Arial MT"/>
              </a:rPr>
              <a:t>RDF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URIs.</a:t>
            </a:r>
            <a:endParaRPr sz="2400">
              <a:latin typeface="Arial MT"/>
              <a:cs typeface="Arial MT"/>
            </a:endParaRPr>
          </a:p>
          <a:p>
            <a:pPr marL="12700" marR="55880">
              <a:lnSpc>
                <a:spcPct val="120000"/>
              </a:lnSpc>
              <a:spcBef>
                <a:spcPts val="2400"/>
              </a:spcBef>
            </a:pPr>
            <a:r>
              <a:rPr sz="2400" spc="-5" dirty="0">
                <a:latin typeface="Arial MT"/>
                <a:cs typeface="Arial MT"/>
              </a:rPr>
              <a:t>Some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the popular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sites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called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LOD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cloud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diagram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1052" y="1912619"/>
            <a:ext cx="5386578" cy="351205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656335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How to</a:t>
            </a:r>
            <a:r>
              <a:rPr spc="-15" dirty="0"/>
              <a:t> </a:t>
            </a:r>
            <a:r>
              <a:rPr spc="-5" dirty="0"/>
              <a:t>create</a:t>
            </a:r>
            <a:r>
              <a:rPr dirty="0"/>
              <a:t> </a:t>
            </a:r>
            <a:r>
              <a:rPr spc="-5" dirty="0"/>
              <a:t>LOD Cloud</a:t>
            </a:r>
            <a:r>
              <a:rPr spc="-20" dirty="0"/>
              <a:t> </a:t>
            </a:r>
            <a:r>
              <a:rPr spc="-5" dirty="0"/>
              <a:t>data</a:t>
            </a:r>
            <a:r>
              <a:rPr spc="-20" dirty="0"/>
              <a:t> </a:t>
            </a:r>
            <a:r>
              <a:rPr spc="-5" dirty="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87626"/>
            <a:ext cx="10268585" cy="425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Find a site that has the RDF information </a:t>
            </a:r>
            <a:r>
              <a:rPr sz="2200" dirty="0">
                <a:latin typeface="Arial MT"/>
                <a:cs typeface="Arial MT"/>
              </a:rPr>
              <a:t>you’re looking </a:t>
            </a:r>
            <a:r>
              <a:rPr sz="2200" spc="-35" dirty="0">
                <a:latin typeface="Arial MT"/>
                <a:cs typeface="Arial MT"/>
              </a:rPr>
              <a:t>for. </a:t>
            </a:r>
            <a:r>
              <a:rPr sz="2200" dirty="0">
                <a:latin typeface="Arial MT"/>
                <a:cs typeface="Arial MT"/>
              </a:rPr>
              <a:t>This can be done in two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ways</a:t>
            </a:r>
          </a:p>
          <a:p>
            <a:pPr marL="800100" lvl="1" indent="-342900">
              <a:spcBef>
                <a:spcPts val="35"/>
              </a:spcBef>
              <a:buFont typeface="Arial" panose="020B0604020202020204" pitchFamily="34" charset="0"/>
              <a:buChar char="•"/>
            </a:pPr>
            <a:endParaRPr sz="2050" dirty="0">
              <a:latin typeface="Arial MT"/>
              <a:cs typeface="Arial MT"/>
            </a:endParaRPr>
          </a:p>
          <a:p>
            <a:pPr marL="812800" marR="591185" lvl="1" indent="-342900">
              <a:lnSpc>
                <a:spcPct val="1101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first is to download all the RDF data </a:t>
            </a:r>
            <a:r>
              <a:rPr sz="2200" dirty="0">
                <a:latin typeface="Arial MT"/>
                <a:cs typeface="Arial MT"/>
              </a:rPr>
              <a:t>on the site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load it into your </a:t>
            </a:r>
            <a:r>
              <a:rPr sz="2200" spc="-5" dirty="0">
                <a:latin typeface="Arial MT"/>
                <a:cs typeface="Arial MT"/>
              </a:rPr>
              <a:t>graph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store.</a:t>
            </a:r>
          </a:p>
          <a:p>
            <a:pPr marL="800100" lvl="1" indent="-342900">
              <a:spcBef>
                <a:spcPts val="40"/>
              </a:spcBef>
              <a:buFont typeface="Arial" panose="020B0604020202020204" pitchFamily="34" charset="0"/>
              <a:buChar char="•"/>
            </a:pPr>
            <a:endParaRPr sz="2050" dirty="0">
              <a:latin typeface="Arial MT"/>
              <a:cs typeface="Arial MT"/>
            </a:endParaRPr>
          </a:p>
          <a:p>
            <a:pPr marL="812800" marR="532765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The second and more </a:t>
            </a:r>
            <a:r>
              <a:rPr sz="2200" spc="-5" dirty="0">
                <a:latin typeface="Arial MT"/>
                <a:cs typeface="Arial MT"/>
              </a:rPr>
              <a:t>efficient </a:t>
            </a:r>
            <a:r>
              <a:rPr sz="2200" dirty="0">
                <a:latin typeface="Arial MT"/>
                <a:cs typeface="Arial MT"/>
              </a:rPr>
              <a:t>method is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to find a web service for the RDF </a:t>
            </a:r>
            <a:r>
              <a:rPr sz="2200" dirty="0">
                <a:latin typeface="Arial MT"/>
                <a:cs typeface="Arial MT"/>
              </a:rPr>
              <a:t>site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called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Arial MT"/>
                <a:cs typeface="Arial MT"/>
              </a:rPr>
              <a:t>SPARQL</a:t>
            </a:r>
            <a:r>
              <a:rPr sz="22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endpoint</a:t>
            </a:r>
            <a:r>
              <a:rPr sz="22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 dirty="0">
              <a:latin typeface="Arial MT"/>
              <a:cs typeface="Arial MT"/>
            </a:endParaRPr>
          </a:p>
          <a:p>
            <a:pPr marL="12700" marR="34925">
              <a:lnSpc>
                <a:spcPct val="110000"/>
              </a:lnSpc>
            </a:pP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service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allows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you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to submit </a:t>
            </a:r>
            <a:r>
              <a:rPr sz="2200" spc="-30" dirty="0">
                <a:solidFill>
                  <a:srgbClr val="FF0000"/>
                </a:solidFill>
                <a:latin typeface="Arial MT"/>
                <a:cs typeface="Arial MT"/>
              </a:rPr>
              <a:t>SPARQL</a:t>
            </a:r>
            <a:r>
              <a:rPr sz="22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queries</a:t>
            </a:r>
            <a:r>
              <a:rPr sz="2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extract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2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each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of </a:t>
            </a:r>
            <a:r>
              <a:rPr sz="2200" spc="-5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the websites </a:t>
            </a:r>
            <a:r>
              <a:rPr sz="2200" dirty="0">
                <a:latin typeface="Arial MT"/>
                <a:cs typeface="Arial MT"/>
              </a:rPr>
              <a:t>you need in an RDF form that can then be joined with other RDF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datasets.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656335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How to</a:t>
            </a:r>
            <a:r>
              <a:rPr spc="-15" dirty="0"/>
              <a:t> </a:t>
            </a:r>
            <a:r>
              <a:rPr spc="-5" dirty="0"/>
              <a:t>create</a:t>
            </a:r>
            <a:r>
              <a:rPr dirty="0"/>
              <a:t> </a:t>
            </a:r>
            <a:r>
              <a:rPr spc="-5" dirty="0"/>
              <a:t>LOD Cloud</a:t>
            </a:r>
            <a:r>
              <a:rPr spc="-20" dirty="0"/>
              <a:t> </a:t>
            </a:r>
            <a:r>
              <a:rPr spc="-5" dirty="0"/>
              <a:t>data</a:t>
            </a:r>
            <a:r>
              <a:rPr spc="-20" dirty="0"/>
              <a:t> </a:t>
            </a:r>
            <a:r>
              <a:rPr spc="-5" dirty="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5130"/>
            <a:ext cx="10323830" cy="4012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28345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combining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SPARQL</a:t>
            </a:r>
            <a:r>
              <a:rPr sz="24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queries,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you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create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data </a:t>
            </a:r>
            <a:r>
              <a:rPr sz="2400" spc="-6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mashups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 </a:t>
            </a:r>
            <a:r>
              <a:rPr sz="2400" spc="-5" dirty="0">
                <a:latin typeface="Arial MT"/>
                <a:cs typeface="Arial MT"/>
              </a:rPr>
              <a:t>join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together.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20100"/>
              </a:lnSpc>
              <a:spcBef>
                <a:spcPts val="2395"/>
              </a:spcBef>
            </a:pP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key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difference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between a 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SPARQL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query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and an RDBMS </a:t>
            </a:r>
            <a:r>
              <a:rPr sz="2400" dirty="0">
                <a:latin typeface="Arial MT"/>
                <a:cs typeface="Arial MT"/>
              </a:rPr>
              <a:t>is </a:t>
            </a:r>
            <a:r>
              <a:rPr sz="2400" spc="-5" dirty="0">
                <a:latin typeface="Arial MT"/>
                <a:cs typeface="Arial MT"/>
              </a:rPr>
              <a:t>the process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creates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primary/foreign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RDBMS,</a:t>
            </a:r>
            <a:r>
              <a:rPr sz="2400" spc="-5" dirty="0">
                <a:latin typeface="Arial MT"/>
                <a:cs typeface="Arial MT"/>
              </a:rPr>
              <a:t> 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keys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the</a:t>
            </a:r>
            <a:r>
              <a:rPr sz="2400" spc="-5" dirty="0">
                <a:latin typeface="Arial MT"/>
                <a:cs typeface="Arial MT"/>
              </a:rPr>
              <a:t> same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domain.</a:t>
            </a:r>
            <a:endParaRPr sz="2400">
              <a:latin typeface="Arial MT"/>
              <a:cs typeface="Arial MT"/>
            </a:endParaRPr>
          </a:p>
          <a:p>
            <a:pPr marL="12700" marR="160020">
              <a:lnSpc>
                <a:spcPct val="120000"/>
              </a:lnSpc>
              <a:spcBef>
                <a:spcPts val="2400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created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different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organizations,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only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way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" dirty="0">
                <a:latin typeface="Arial MT"/>
                <a:cs typeface="Arial MT"/>
              </a:rPr>
              <a:t> join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data is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use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consistent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URIs to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identify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nodes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5918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Graph data</a:t>
            </a:r>
            <a:r>
              <a:rPr spc="-30" dirty="0"/>
              <a:t> </a:t>
            </a:r>
            <a:r>
              <a:rPr spc="-5" dirty="0"/>
              <a:t>store</a:t>
            </a:r>
            <a:r>
              <a:rPr spc="-15" dirty="0"/>
              <a:t> </a:t>
            </a:r>
            <a:r>
              <a:rPr spc="-5" dirty="0"/>
              <a:t>-</a:t>
            </a:r>
            <a:r>
              <a:rPr spc="-125" dirty="0"/>
              <a:t> </a:t>
            </a:r>
            <a:r>
              <a:rPr spc="-5" dirty="0"/>
              <a:t>Advantages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95">
              <a:lnSpc>
                <a:spcPct val="120000"/>
              </a:lnSpc>
              <a:spcBef>
                <a:spcPts val="100"/>
              </a:spcBef>
            </a:pPr>
            <a:r>
              <a:rPr spc="-10" dirty="0"/>
              <a:t>Traversing </a:t>
            </a:r>
            <a:r>
              <a:rPr dirty="0"/>
              <a:t>the joins or relationships is </a:t>
            </a:r>
            <a:r>
              <a:rPr dirty="0">
                <a:solidFill>
                  <a:srgbClr val="FF0000"/>
                </a:solidFill>
              </a:rPr>
              <a:t>very fast </a:t>
            </a:r>
            <a:r>
              <a:rPr dirty="0"/>
              <a:t>because of the traversing </a:t>
            </a:r>
            <a:r>
              <a:rPr dirty="0">
                <a:highlight>
                  <a:srgbClr val="FFFF00"/>
                </a:highlight>
              </a:rPr>
              <a:t>persisted</a:t>
            </a:r>
            <a:r>
              <a:rPr dirty="0"/>
              <a:t> </a:t>
            </a:r>
            <a:r>
              <a:rPr spc="-600" dirty="0"/>
              <a:t> </a:t>
            </a:r>
            <a:r>
              <a:rPr dirty="0"/>
              <a:t>relationships</a:t>
            </a:r>
            <a:r>
              <a:rPr spc="-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>
                <a:solidFill>
                  <a:srgbClr val="FF0000"/>
                </a:solidFill>
              </a:rPr>
              <a:t>faster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than calculating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them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for every </a:t>
            </a:r>
            <a:r>
              <a:rPr spc="-25" dirty="0">
                <a:solidFill>
                  <a:srgbClr val="FF0000"/>
                </a:solidFill>
              </a:rPr>
              <a:t>query</a:t>
            </a:r>
            <a:r>
              <a:rPr spc="-25" dirty="0"/>
              <a:t>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 dirty="0"/>
          </a:p>
          <a:p>
            <a:pPr marL="12700" marR="5080">
              <a:lnSpc>
                <a:spcPct val="120100"/>
              </a:lnSpc>
              <a:spcBef>
                <a:spcPts val="5"/>
              </a:spcBef>
            </a:pPr>
            <a:r>
              <a:rPr dirty="0"/>
              <a:t>Nodes </a:t>
            </a:r>
            <a:r>
              <a:rPr dirty="0">
                <a:solidFill>
                  <a:srgbClr val="FF0000"/>
                </a:solidFill>
              </a:rPr>
              <a:t>can have </a:t>
            </a:r>
            <a:r>
              <a:rPr spc="-5" dirty="0">
                <a:solidFill>
                  <a:srgbClr val="FF0000"/>
                </a:solidFill>
              </a:rPr>
              <a:t>different </a:t>
            </a:r>
            <a:r>
              <a:rPr dirty="0">
                <a:solidFill>
                  <a:srgbClr val="FF0000"/>
                </a:solidFill>
              </a:rPr>
              <a:t>types </a:t>
            </a:r>
            <a:r>
              <a:rPr spc="-5" dirty="0">
                <a:solidFill>
                  <a:srgbClr val="FF0000"/>
                </a:solidFill>
              </a:rPr>
              <a:t>of </a:t>
            </a:r>
            <a:r>
              <a:rPr dirty="0">
                <a:solidFill>
                  <a:srgbClr val="FF0000"/>
                </a:solidFill>
              </a:rPr>
              <a:t>relationships between them</a:t>
            </a:r>
            <a:r>
              <a:rPr dirty="0"/>
              <a:t>, allowing you to</a:t>
            </a:r>
            <a:r>
              <a:rPr spc="-5" dirty="0"/>
              <a:t> </a:t>
            </a:r>
            <a:r>
              <a:rPr spc="-600" dirty="0"/>
              <a:t> </a:t>
            </a:r>
            <a:r>
              <a:rPr dirty="0"/>
              <a:t>represent relationships between the domain</a:t>
            </a:r>
            <a:r>
              <a:rPr spc="-5" dirty="0"/>
              <a:t> </a:t>
            </a:r>
            <a:r>
              <a:rPr dirty="0"/>
              <a:t>entities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/>
          </a:p>
          <a:p>
            <a:pPr marL="12700" marR="262255">
              <a:lnSpc>
                <a:spcPct val="120000"/>
              </a:lnSpc>
            </a:pPr>
            <a:r>
              <a:rPr dirty="0"/>
              <a:t>Most of the </a:t>
            </a:r>
            <a:r>
              <a:rPr dirty="0">
                <a:solidFill>
                  <a:srgbClr val="FF0000"/>
                </a:solidFill>
              </a:rPr>
              <a:t>value of</a:t>
            </a:r>
            <a:r>
              <a:rPr dirty="0"/>
              <a:t> </a:t>
            </a:r>
            <a:r>
              <a:rPr dirty="0">
                <a:solidFill>
                  <a:srgbClr val="FF0000"/>
                </a:solidFill>
              </a:rPr>
              <a:t>graph databases </a:t>
            </a:r>
            <a:r>
              <a:rPr dirty="0"/>
              <a:t>is derived from </a:t>
            </a:r>
            <a:r>
              <a:rPr dirty="0">
                <a:solidFill>
                  <a:srgbClr val="FF0000"/>
                </a:solidFill>
              </a:rPr>
              <a:t>the relationships</a:t>
            </a:r>
            <a:r>
              <a:rPr dirty="0"/>
              <a:t>. Using this </a:t>
            </a:r>
            <a:r>
              <a:rPr spc="-600" dirty="0"/>
              <a:t> </a:t>
            </a:r>
            <a:r>
              <a:rPr spc="-5" dirty="0"/>
              <a:t>property</a:t>
            </a:r>
            <a:r>
              <a:rPr spc="10" dirty="0"/>
              <a:t> </a:t>
            </a:r>
            <a:r>
              <a:rPr dirty="0"/>
              <a:t>on the relationships,</a:t>
            </a:r>
            <a:r>
              <a:rPr spc="-5" dirty="0"/>
              <a:t> </a:t>
            </a:r>
            <a:r>
              <a:rPr dirty="0"/>
              <a:t>we</a:t>
            </a:r>
            <a:r>
              <a:rPr spc="-10" dirty="0"/>
              <a:t> </a:t>
            </a:r>
            <a:r>
              <a:rPr dirty="0">
                <a:solidFill>
                  <a:srgbClr val="FF0000"/>
                </a:solidFill>
              </a:rPr>
              <a:t>can add intelligence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 the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relationship.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 dirty="0"/>
          </a:p>
          <a:p>
            <a:pPr marL="12700" marR="1251585">
              <a:lnSpc>
                <a:spcPct val="120000"/>
              </a:lnSpc>
            </a:pPr>
            <a:r>
              <a:rPr dirty="0">
                <a:solidFill>
                  <a:srgbClr val="FF0000"/>
                </a:solidFill>
              </a:rPr>
              <a:t>Adding new relationship types is </a:t>
            </a:r>
            <a:r>
              <a:rPr spc="-35" dirty="0">
                <a:solidFill>
                  <a:srgbClr val="FF0000"/>
                </a:solidFill>
              </a:rPr>
              <a:t>easy</a:t>
            </a:r>
            <a:r>
              <a:rPr spc="-35" dirty="0"/>
              <a:t>.</a:t>
            </a:r>
            <a:r>
              <a:rPr dirty="0"/>
              <a:t> </a:t>
            </a:r>
            <a:r>
              <a:rPr spc="-5" dirty="0"/>
              <a:t>Changing</a:t>
            </a:r>
            <a:r>
              <a:rPr dirty="0"/>
              <a:t> existing</a:t>
            </a:r>
            <a:r>
              <a:rPr spc="-15" dirty="0"/>
              <a:t> </a:t>
            </a:r>
            <a:r>
              <a:rPr dirty="0"/>
              <a:t>nodes</a:t>
            </a:r>
            <a:r>
              <a:rPr spc="5" dirty="0"/>
              <a:t> </a:t>
            </a:r>
            <a:r>
              <a:rPr dirty="0"/>
              <a:t>and their </a:t>
            </a:r>
            <a:r>
              <a:rPr spc="-600" dirty="0"/>
              <a:t> </a:t>
            </a:r>
            <a:r>
              <a:rPr dirty="0"/>
              <a:t>relationships</a:t>
            </a:r>
            <a:r>
              <a:rPr spc="-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lang="en-US" dirty="0"/>
              <a:t>like</a:t>
            </a:r>
            <a:r>
              <a:rPr dirty="0"/>
              <a:t> data</a:t>
            </a:r>
            <a:r>
              <a:rPr spc="-5" dirty="0"/>
              <a:t> </a:t>
            </a:r>
            <a:r>
              <a:rPr dirty="0"/>
              <a:t>migration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4775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Graph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30" dirty="0"/>
              <a:t> </a:t>
            </a:r>
            <a:r>
              <a:rPr spc="-5" dirty="0"/>
              <a:t>store</a:t>
            </a:r>
            <a:r>
              <a:rPr spc="-20" dirty="0"/>
              <a:t> </a:t>
            </a:r>
            <a:r>
              <a:rPr spc="-5" dirty="0"/>
              <a:t>-</a:t>
            </a:r>
            <a:r>
              <a:rPr spc="-15" dirty="0"/>
              <a:t> </a:t>
            </a:r>
            <a:r>
              <a:rPr spc="-5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8282"/>
            <a:ext cx="7044055" cy="275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many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graph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databases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available,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endParaRPr sz="2400">
              <a:latin typeface="Arial MT"/>
              <a:cs typeface="Arial MT"/>
            </a:endParaRPr>
          </a:p>
          <a:p>
            <a:pPr marL="734695" indent="-367030">
              <a:lnSpc>
                <a:spcPct val="100000"/>
              </a:lnSpc>
              <a:spcBef>
                <a:spcPts val="1775"/>
              </a:spcBef>
              <a:buChar char="•"/>
              <a:tabLst>
                <a:tab pos="734695" algn="l"/>
                <a:tab pos="735330" algn="l"/>
              </a:tabLst>
            </a:pPr>
            <a:r>
              <a:rPr sz="2400" spc="-5" dirty="0">
                <a:latin typeface="Arial MT"/>
                <a:cs typeface="Arial MT"/>
              </a:rPr>
              <a:t>Neo4J,</a:t>
            </a:r>
            <a:endParaRPr sz="2400">
              <a:latin typeface="Arial MT"/>
              <a:cs typeface="Arial MT"/>
            </a:endParaRPr>
          </a:p>
          <a:p>
            <a:pPr marL="734695" indent="-367030">
              <a:lnSpc>
                <a:spcPct val="100000"/>
              </a:lnSpc>
              <a:spcBef>
                <a:spcPts val="1775"/>
              </a:spcBef>
              <a:buChar char="•"/>
              <a:tabLst>
                <a:tab pos="734695" algn="l"/>
                <a:tab pos="735330" algn="l"/>
              </a:tabLst>
            </a:pPr>
            <a:r>
              <a:rPr sz="2400" dirty="0">
                <a:latin typeface="Arial MT"/>
                <a:cs typeface="Arial MT"/>
              </a:rPr>
              <a:t>Infinite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Graph,</a:t>
            </a:r>
            <a:endParaRPr sz="2400">
              <a:latin typeface="Arial MT"/>
              <a:cs typeface="Arial MT"/>
            </a:endParaRPr>
          </a:p>
          <a:p>
            <a:pPr marL="734695" indent="-367030">
              <a:lnSpc>
                <a:spcPct val="100000"/>
              </a:lnSpc>
              <a:spcBef>
                <a:spcPts val="1780"/>
              </a:spcBef>
              <a:buChar char="•"/>
              <a:tabLst>
                <a:tab pos="734695" algn="l"/>
                <a:tab pos="735330" algn="l"/>
              </a:tabLst>
            </a:pPr>
            <a:r>
              <a:rPr sz="2400" spc="-5" dirty="0">
                <a:latin typeface="Arial MT"/>
                <a:cs typeface="Arial MT"/>
              </a:rPr>
              <a:t>OrientDB,</a:t>
            </a:r>
            <a:endParaRPr sz="2400">
              <a:latin typeface="Arial MT"/>
              <a:cs typeface="Arial MT"/>
            </a:endParaRPr>
          </a:p>
          <a:p>
            <a:pPr marL="734695" indent="-367030">
              <a:lnSpc>
                <a:spcPct val="100000"/>
              </a:lnSpc>
              <a:spcBef>
                <a:spcPts val="1775"/>
              </a:spcBef>
              <a:buChar char="•"/>
              <a:tabLst>
                <a:tab pos="734695" algn="l"/>
                <a:tab pos="735330" algn="l"/>
              </a:tabLst>
            </a:pPr>
            <a:r>
              <a:rPr sz="2400" spc="-5" dirty="0">
                <a:latin typeface="Arial MT"/>
                <a:cs typeface="Arial MT"/>
              </a:rPr>
              <a:t>FlockDB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6345"/>
            <a:ext cx="18764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8282"/>
            <a:ext cx="5772150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session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knowledge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about</a:t>
            </a:r>
            <a:endParaRPr sz="2400">
              <a:latin typeface="Arial MT"/>
              <a:cs typeface="Arial MT"/>
            </a:endParaRPr>
          </a:p>
          <a:p>
            <a:pPr marL="1009650" indent="-539750">
              <a:lnSpc>
                <a:spcPct val="100000"/>
              </a:lnSpc>
              <a:spcBef>
                <a:spcPts val="1775"/>
              </a:spcBef>
              <a:buChar char="•"/>
              <a:tabLst>
                <a:tab pos="1009015" algn="l"/>
                <a:tab pos="1009650" algn="l"/>
              </a:tabLst>
            </a:pPr>
            <a:r>
              <a:rPr sz="2400" spc="-5" dirty="0">
                <a:latin typeface="Arial MT"/>
                <a:cs typeface="Arial MT"/>
              </a:rPr>
              <a:t>Graph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Based Data Model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5081"/>
            <a:ext cx="1325118" cy="5979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25"/>
              <a:t>Dr. N. Karthika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F448F9C451104E9C08711D679A3A0B" ma:contentTypeVersion="6" ma:contentTypeDescription="Create a new document." ma:contentTypeScope="" ma:versionID="8ee63a3d7954ec22c0886665a5049bdf">
  <xsd:schema xmlns:xsd="http://www.w3.org/2001/XMLSchema" xmlns:xs="http://www.w3.org/2001/XMLSchema" xmlns:p="http://schemas.microsoft.com/office/2006/metadata/properties" xmlns:ns2="4d49e504-0146-438d-919b-dfcdc9791262" xmlns:ns3="3f5784e7-edd5-4876-9281-5a22f45af5a5" targetNamespace="http://schemas.microsoft.com/office/2006/metadata/properties" ma:root="true" ma:fieldsID="f298f4f328c2b6fed7c076e1bbc97bbd" ns2:_="" ns3:_="">
    <xsd:import namespace="4d49e504-0146-438d-919b-dfcdc9791262"/>
    <xsd:import namespace="3f5784e7-edd5-4876-9281-5a22f45af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49e504-0146-438d-919b-dfcdc97912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5784e7-edd5-4876-9281-5a22f45af5a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BB71A3-CCD9-4339-AB85-3D451059D1D7}"/>
</file>

<file path=customXml/itemProps2.xml><?xml version="1.0" encoding="utf-8"?>
<ds:datastoreItem xmlns:ds="http://schemas.openxmlformats.org/officeDocument/2006/customXml" ds:itemID="{8AF12180-CD5F-4935-93A2-6378974EBA50}"/>
</file>

<file path=customXml/itemProps3.xml><?xml version="1.0" encoding="utf-8"?>
<ds:datastoreItem xmlns:ds="http://schemas.openxmlformats.org/officeDocument/2006/customXml" ds:itemID="{1E27FA88-C33E-4D05-97DD-30793D3E820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2282</TotalTime>
  <Words>1750</Words>
  <Application>Microsoft Macintosh PowerPoint</Application>
  <PresentationFormat>Widescreen</PresentationFormat>
  <Paragraphs>179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Arial MT</vt:lpstr>
      <vt:lpstr>Calibri</vt:lpstr>
      <vt:lpstr>Office Theme</vt:lpstr>
      <vt:lpstr>Course code  Course title  Module  Topic</vt:lpstr>
      <vt:lpstr>Objectives</vt:lpstr>
      <vt:lpstr>Graph Based Data Model</vt:lpstr>
      <vt:lpstr>Overview of a graph store</vt:lpstr>
      <vt:lpstr>Overview of a graph store</vt:lpstr>
      <vt:lpstr>Overview of a graph store</vt:lpstr>
      <vt:lpstr>Overview of a graph store</vt:lpstr>
      <vt:lpstr>Overview of a graph store</vt:lpstr>
      <vt:lpstr>Graph store - An example</vt:lpstr>
      <vt:lpstr>Linking external data with the RDF standard</vt:lpstr>
      <vt:lpstr>Linking external data with the RDF standard</vt:lpstr>
      <vt:lpstr>Use cases for graph stores</vt:lpstr>
      <vt:lpstr>Link Analysis</vt:lpstr>
      <vt:lpstr>Link Analysis</vt:lpstr>
      <vt:lpstr>Link Analysis</vt:lpstr>
      <vt:lpstr>Rules, and Inference</vt:lpstr>
      <vt:lpstr>Semantic Web Stack</vt:lpstr>
      <vt:lpstr>Using Graphs to Process Public Datasets</vt:lpstr>
      <vt:lpstr>Using Graphs to Process Public Datasets</vt:lpstr>
      <vt:lpstr>How to create LOD Cloud data set</vt:lpstr>
      <vt:lpstr>How to create LOD Cloud data set</vt:lpstr>
      <vt:lpstr>Graph data store - Advantages</vt:lpstr>
      <vt:lpstr>Graph data store - Types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Karthika</cp:lastModifiedBy>
  <cp:revision>31</cp:revision>
  <dcterms:created xsi:type="dcterms:W3CDTF">2021-07-29T05:23:05Z</dcterms:created>
  <dcterms:modified xsi:type="dcterms:W3CDTF">2024-01-25T07:12:06Z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2021-07-29T00:00:00Z</vt:filetime>
  </property>
  <property fmtid="{D5CDD505-2E9C-101B-9397-08002B2CF9AE}" pid="5" name="ContentTypeId">
    <vt:lpwstr>0x010100B1F448F9C451104E9C08711D679A3A0B</vt:lpwstr>
  </property>
</Properties>
</file>